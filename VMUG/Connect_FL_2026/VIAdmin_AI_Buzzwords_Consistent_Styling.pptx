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6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79" r:id="rId22"/>
    <p:sldId id="280" r:id="rId23"/>
    <p:sldId id="281" r:id="rId24"/>
    <p:sldId id="282" r:id="rId25"/>
    <p:sldId id="289" r:id="rId26"/>
    <p:sldId id="283" r:id="rId27"/>
    <p:sldId id="284" r:id="rId28"/>
    <p:sldId id="285" r:id="rId29"/>
    <p:sldId id="286" r:id="rId30"/>
    <p:sldId id="287" r:id="rId31"/>
    <p:sldId id="288" r:id="rId3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8" d="100"/>
          <a:sy n="108" d="100"/>
        </p:scale>
        <p:origin x="678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61A44B-9D4E-4251-BADA-8E10D2D2A37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588BD5-3D99-4869-9E38-E25CB82AE1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03465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Suggested delivery: 30 minutes including discussion. Frame this as a translation guide, not a complete taxonomy of every AI term.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41780073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Emphasize that labels vary by vendor. Bring the discussion back to observable behavior and measurable outcomes.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137204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Ask the audience to name one task they would and would not let an agent perform. Highlight permissions and rollback.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4994104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For infrastructure teams, distinguish alerting/analytics from remediation. Autonomous action should be earned through testing.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4818947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Use this slide as a live vendor-question checklist.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4085874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Close with the six questions. Invite the audience to use these as an evaluation scorecard.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1136829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2B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464040" y="640080"/>
            <a:ext cx="1188720" cy="1188720"/>
          </a:xfrm>
          <a:prstGeom prst="ellipse">
            <a:avLst/>
          </a:prstGeom>
          <a:solidFill>
            <a:srgbClr val="377B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287000" y="1463040"/>
            <a:ext cx="594360" cy="594360"/>
          </a:xfrm>
          <a:prstGeom prst="ellipse">
            <a:avLst/>
          </a:prstGeom>
          <a:solidFill>
            <a:srgbClr val="43C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823960" y="1965960"/>
            <a:ext cx="411480" cy="411480"/>
          </a:xfrm>
          <a:prstGeom prst="ellipse">
            <a:avLst/>
          </a:prstGeom>
          <a:solidFill>
            <a:srgbClr val="F6A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241280" y="2743200"/>
            <a:ext cx="1051560" cy="1051560"/>
          </a:xfrm>
          <a:prstGeom prst="ellipse">
            <a:avLst/>
          </a:prstGeom>
          <a:solidFill>
            <a:srgbClr val="1C2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685800"/>
            <a:ext cx="71323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43C7D2"/>
                </a:solidFill>
                <a:latin typeface="Aptos"/>
              </a:rPr>
              <a:t>ROUNDtable • PEER-DRIVEN SESSION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234440"/>
            <a:ext cx="8138160" cy="1645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 i="0">
                <a:solidFill>
                  <a:srgbClr val="F8FAFD"/>
                </a:solidFill>
                <a:latin typeface="Aptos"/>
              </a:rPr>
              <a:t>From VIAdmin
to Cloud Admin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3154680"/>
            <a:ext cx="768096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0" i="0">
                <a:solidFill>
                  <a:srgbClr val="E5EDF7"/>
                </a:solidFill>
                <a:latin typeface="Aptos"/>
              </a:rPr>
              <a:t>Cut through the AI hype. Map your skills. Build your next-step roadmap.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166360"/>
            <a:ext cx="76809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AEBED3"/>
                </a:solidFill>
                <a:latin typeface="Aptos"/>
              </a:rPr>
              <a:t>An interactive discussion about the practical realities of hybrid and public cloud.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80760"/>
            <a:ext cx="59436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43C7D2"/>
                </a:solidFill>
                <a:latin typeface="Aptos"/>
              </a:rPr>
              <a:t>FACILITATOR-LED • ATTENDEE-DRIVEN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10528"/>
            <a:ext cx="50292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AEBED3"/>
                </a:solidFill>
                <a:latin typeface="Aptos"/>
              </a:rPr>
              <a:t>VIADMIN → CLOUD ADMIN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43C7D2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2B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7899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43C7D2"/>
                </a:solidFill>
                <a:latin typeface="Aptos"/>
              </a:rPr>
              <a:t>01 • SET THE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58952"/>
            <a:ext cx="1097280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F8FAFD"/>
                </a:solidFill>
                <a:latin typeface="Aptos"/>
              </a:rPr>
              <a:t>This is a working session—not a sales pitch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481328"/>
            <a:ext cx="107899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AEBED3"/>
                </a:solidFill>
                <a:latin typeface="Aptos"/>
              </a:rPr>
              <a:t>We’ll use the room’s experience to create practical, role-specific next steps.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240280"/>
            <a:ext cx="3520440" cy="2148840"/>
          </a:xfrm>
          <a:prstGeom prst="roundRect">
            <a:avLst/>
          </a:prstGeom>
          <a:solidFill>
            <a:srgbClr val="1C2B43"/>
          </a:solidFill>
          <a:ln>
            <a:solidFill>
              <a:srgbClr val="364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2350008"/>
            <a:ext cx="64008" cy="1929384"/>
          </a:xfrm>
          <a:prstGeom prst="rect">
            <a:avLst/>
          </a:prstGeom>
          <a:solidFill>
            <a:srgbClr val="43C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7" y="2404872"/>
            <a:ext cx="3172968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F8FAFD"/>
                </a:solidFill>
                <a:latin typeface="Aptos"/>
              </a:rPr>
              <a:t>01  Separate signal from noise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898648"/>
            <a:ext cx="3136392" cy="1399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E5EDF7"/>
                </a:solidFill>
                <a:latin typeface="Aptos"/>
              </a:rPr>
              <a:t>Evaluate AI claims against observable capabilities, constraints, and operational risk.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2240280"/>
            <a:ext cx="3520440" cy="2148840"/>
          </a:xfrm>
          <a:prstGeom prst="roundRect">
            <a:avLst/>
          </a:prstGeom>
          <a:solidFill>
            <a:srgbClr val="1C2B43"/>
          </a:solidFill>
          <a:ln>
            <a:solidFill>
              <a:srgbClr val="364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43400" y="2350008"/>
            <a:ext cx="64008" cy="1929384"/>
          </a:xfrm>
          <a:prstGeom prst="rect">
            <a:avLst/>
          </a:prstGeom>
          <a:solidFill>
            <a:srgbClr val="F6A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44568" y="2404872"/>
            <a:ext cx="3172968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F8FAFD"/>
                </a:solidFill>
                <a:latin typeface="Aptos"/>
              </a:rPr>
              <a:t>02  Find the gaps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2898648"/>
            <a:ext cx="3136392" cy="1399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E5EDF7"/>
                </a:solidFill>
                <a:latin typeface="Aptos"/>
              </a:rPr>
              <a:t>Compare today’s strengths with the skills your target cloud role actually requires.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2240280"/>
            <a:ext cx="3520440" cy="2148840"/>
          </a:xfrm>
          <a:prstGeom prst="roundRect">
            <a:avLst/>
          </a:prstGeom>
          <a:solidFill>
            <a:srgbClr val="1C2B43"/>
          </a:solidFill>
          <a:ln>
            <a:solidFill>
              <a:srgbClr val="364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46720" y="2350008"/>
            <a:ext cx="64008" cy="1929384"/>
          </a:xfrm>
          <a:prstGeom prst="rect">
            <a:avLst/>
          </a:prstGeom>
          <a:solidFill>
            <a:srgbClr val="5DB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47888" y="2404872"/>
            <a:ext cx="3172968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F8FAFD"/>
                </a:solidFill>
                <a:latin typeface="Aptos"/>
              </a:rPr>
              <a:t>03  Leave with a plan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7888" y="2898648"/>
            <a:ext cx="3136392" cy="1399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E5EDF7"/>
                </a:solidFill>
                <a:latin typeface="Aptos"/>
              </a:rPr>
              <a:t>Turn peer experience into a prioritized learning path and first action.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510528"/>
            <a:ext cx="50292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AEBED3"/>
                </a:solidFill>
                <a:latin typeface="Aptos"/>
              </a:rPr>
              <a:t>VIADMIN → CLOUD ADMIN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43C7D2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2B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7899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43C7D2"/>
                </a:solidFill>
                <a:latin typeface="Aptos"/>
              </a:rPr>
              <a:t>03 • START WITH THE ROOM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58952"/>
            <a:ext cx="1097280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F8FAFD"/>
                </a:solidFill>
                <a:latin typeface="Aptos"/>
              </a:rPr>
              <a:t>What is changing in your role?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481328"/>
            <a:ext cx="107899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AEBED3"/>
                </a:solidFill>
                <a:latin typeface="Aptos"/>
              </a:rPr>
              <a:t>Take 60 seconds to think, then share one observation with the group.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148840"/>
            <a:ext cx="3520440" cy="2331720"/>
          </a:xfrm>
          <a:prstGeom prst="roundRect">
            <a:avLst/>
          </a:prstGeom>
          <a:solidFill>
            <a:srgbClr val="1C2B43"/>
          </a:solidFill>
          <a:ln>
            <a:solidFill>
              <a:srgbClr val="364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2258568"/>
            <a:ext cx="64008" cy="2112263"/>
          </a:xfrm>
          <a:prstGeom prst="rect">
            <a:avLst/>
          </a:prstGeom>
          <a:solidFill>
            <a:srgbClr val="43C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8" y="2313432"/>
            <a:ext cx="3172968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F8FAFD"/>
                </a:solidFill>
                <a:latin typeface="Aptos"/>
              </a:rPr>
              <a:t>KEEP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807208"/>
            <a:ext cx="3136392" cy="1581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E5EDF7"/>
                </a:solidFill>
                <a:latin typeface="Aptos"/>
              </a:rPr>
              <a:t>Which virtualization skills remain valuable in cloud operations?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2148840"/>
            <a:ext cx="3520440" cy="2331720"/>
          </a:xfrm>
          <a:prstGeom prst="roundRect">
            <a:avLst/>
          </a:prstGeom>
          <a:solidFill>
            <a:srgbClr val="1C2B43"/>
          </a:solidFill>
          <a:ln>
            <a:solidFill>
              <a:srgbClr val="364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43400" y="2258568"/>
            <a:ext cx="64008" cy="2112263"/>
          </a:xfrm>
          <a:prstGeom prst="rect">
            <a:avLst/>
          </a:prstGeom>
          <a:solidFill>
            <a:srgbClr val="F6A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44568" y="2313432"/>
            <a:ext cx="3172968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F8FAFD"/>
                </a:solidFill>
                <a:latin typeface="Aptos"/>
              </a:rPr>
              <a:t>CHANGE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2807208"/>
            <a:ext cx="3136392" cy="1581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E5EDF7"/>
                </a:solidFill>
                <a:latin typeface="Aptos"/>
              </a:rPr>
              <a:t>What work is shifting from managing infrastructure to managing services, policy, and consumption?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01000" y="2148840"/>
            <a:ext cx="3520440" cy="2331720"/>
          </a:xfrm>
          <a:prstGeom prst="roundRect">
            <a:avLst/>
          </a:prstGeom>
          <a:solidFill>
            <a:srgbClr val="1C2B43"/>
          </a:solidFill>
          <a:ln>
            <a:solidFill>
              <a:srgbClr val="364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01000" y="2258568"/>
            <a:ext cx="64008" cy="2112263"/>
          </a:xfrm>
          <a:prstGeom prst="rect">
            <a:avLst/>
          </a:prstGeom>
          <a:solidFill>
            <a:srgbClr val="5DB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02168" y="2313432"/>
            <a:ext cx="3172968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F8FAFD"/>
                </a:solidFill>
                <a:latin typeface="Aptos"/>
              </a:rPr>
              <a:t>UNCLEAR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02168" y="2807208"/>
            <a:ext cx="3136392" cy="1581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E5EDF7"/>
                </a:solidFill>
                <a:latin typeface="Aptos"/>
              </a:rPr>
              <a:t>What part of the cloud or AI story feels hardest to validate?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510528"/>
            <a:ext cx="50292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AEBED3"/>
                </a:solidFill>
                <a:latin typeface="Aptos"/>
              </a:rPr>
              <a:t>VIADMIN → CLOUD ADMIN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43C7D2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2B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7899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43C7D2"/>
                </a:solidFill>
                <a:latin typeface="Aptos"/>
              </a:rPr>
              <a:t>04 • TAKEAWAY 1: DECONSTRUCT THE HYPE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58952"/>
            <a:ext cx="1097280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F8FAFD"/>
                </a:solidFill>
                <a:latin typeface="Aptos"/>
              </a:rPr>
              <a:t>Judge AI by the job it does—not the label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481328"/>
            <a:ext cx="107899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AEBED3"/>
                </a:solidFill>
                <a:latin typeface="Aptos"/>
              </a:rPr>
              <a:t>Use this quick test whenever a tool is described as “intelligent,” “autonomous,” or “self-healing.”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57400"/>
            <a:ext cx="2651760" cy="2331720"/>
          </a:xfrm>
          <a:prstGeom prst="roundRect">
            <a:avLst/>
          </a:prstGeom>
          <a:solidFill>
            <a:srgbClr val="1C2B43"/>
          </a:solidFill>
          <a:ln>
            <a:solidFill>
              <a:srgbClr val="364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2167128"/>
            <a:ext cx="64008" cy="2112263"/>
          </a:xfrm>
          <a:prstGeom prst="rect">
            <a:avLst/>
          </a:prstGeom>
          <a:solidFill>
            <a:srgbClr val="43C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7" y="2221992"/>
            <a:ext cx="2304288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F8FAFD"/>
                </a:solidFill>
                <a:latin typeface="Aptos"/>
              </a:rPr>
              <a:t>CAPABILITY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715768"/>
            <a:ext cx="2267712" cy="1581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E5EDF7"/>
                </a:solidFill>
                <a:latin typeface="Aptos"/>
              </a:rPr>
              <a:t>What task does it perform? What inputs and systems does it need?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2057400"/>
            <a:ext cx="2651760" cy="2331720"/>
          </a:xfrm>
          <a:prstGeom prst="roundRect">
            <a:avLst/>
          </a:prstGeom>
          <a:solidFill>
            <a:srgbClr val="1C2B43"/>
          </a:solidFill>
          <a:ln>
            <a:solidFill>
              <a:srgbClr val="364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429000" y="2167128"/>
            <a:ext cx="64008" cy="2112263"/>
          </a:xfrm>
          <a:prstGeom prst="rect">
            <a:avLst/>
          </a:prstGeom>
          <a:solidFill>
            <a:srgbClr val="5DB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30168" y="2221992"/>
            <a:ext cx="2304288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F8FAFD"/>
                </a:solidFill>
                <a:latin typeface="Aptos"/>
              </a:rPr>
              <a:t>EVIDENCE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30168" y="2715768"/>
            <a:ext cx="2267712" cy="1581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E5EDF7"/>
                </a:solidFill>
                <a:latin typeface="Aptos"/>
              </a:rPr>
              <a:t>Can we measure accuracy, time saved, incident reduction, or cost?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057400"/>
            <a:ext cx="2651760" cy="2331720"/>
          </a:xfrm>
          <a:prstGeom prst="roundRect">
            <a:avLst/>
          </a:prstGeom>
          <a:solidFill>
            <a:srgbClr val="1C2B43"/>
          </a:solidFill>
          <a:ln>
            <a:solidFill>
              <a:srgbClr val="364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17920" y="2167128"/>
            <a:ext cx="64008" cy="2112263"/>
          </a:xfrm>
          <a:prstGeom prst="rect">
            <a:avLst/>
          </a:prstGeom>
          <a:solidFill>
            <a:srgbClr val="F6A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19088" y="2221992"/>
            <a:ext cx="2304288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F8FAFD"/>
                </a:solidFill>
                <a:latin typeface="Aptos"/>
              </a:rPr>
              <a:t>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2715768"/>
            <a:ext cx="2267712" cy="1581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E5EDF7"/>
                </a:solidFill>
                <a:latin typeface="Aptos"/>
              </a:rPr>
              <a:t>Can an admin review, constrain, approve, and roll back its actions?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06840" y="2057400"/>
            <a:ext cx="2514600" cy="2331720"/>
          </a:xfrm>
          <a:prstGeom prst="roundRect">
            <a:avLst/>
          </a:prstGeom>
          <a:solidFill>
            <a:srgbClr val="1C2B43"/>
          </a:solidFill>
          <a:ln>
            <a:solidFill>
              <a:srgbClr val="364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9006840" y="2167128"/>
            <a:ext cx="64008" cy="2112263"/>
          </a:xfrm>
          <a:prstGeom prst="rect">
            <a:avLst/>
          </a:prstGeom>
          <a:solidFill>
            <a:srgbClr val="E068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208008" y="2221992"/>
            <a:ext cx="2167128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F8FAFD"/>
                </a:solidFill>
                <a:latin typeface="Aptos"/>
              </a:rPr>
              <a:t>BOUNDARIES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08008" y="2715768"/>
            <a:ext cx="2130552" cy="1581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E5EDF7"/>
                </a:solidFill>
                <a:latin typeface="Aptos"/>
              </a:rPr>
              <a:t>Where does it fail? What permissions, data, or context are missing?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983480"/>
            <a:ext cx="10698480" cy="353943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 dirty="0" smtClean="0">
                <a:solidFill>
                  <a:srgbClr val="F8FAFD"/>
                </a:solidFill>
                <a:latin typeface="Aptos"/>
              </a:rPr>
              <a:t>What </a:t>
            </a:r>
            <a:r>
              <a:rPr sz="1700" b="1" i="0" dirty="0">
                <a:solidFill>
                  <a:srgbClr val="F8FAFD"/>
                </a:solidFill>
                <a:latin typeface="Aptos"/>
              </a:rPr>
              <a:t>is one AI claim you’ve heard—and what evidence would convince you?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510528"/>
            <a:ext cx="50292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AEBED3"/>
                </a:solidFill>
                <a:latin typeface="Aptos"/>
              </a:rPr>
              <a:t>VIADMIN → CLOUD ADMIN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43C7D2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2B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7899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43C7D2"/>
                </a:solidFill>
                <a:latin typeface="Aptos"/>
              </a:rPr>
              <a:t>04 • MAKE IT CONCRETE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58952"/>
            <a:ext cx="1097280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F8FAFD"/>
                </a:solidFill>
                <a:latin typeface="Aptos"/>
              </a:rPr>
              <a:t>Where AI can help—and where it can fall short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481328"/>
            <a:ext cx="107899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AEBED3"/>
                </a:solidFill>
                <a:latin typeface="Aptos"/>
              </a:rPr>
              <a:t>Discuss the task and its risk, not just the tool brand.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103120"/>
            <a:ext cx="5257800" cy="2743200"/>
          </a:xfrm>
          <a:prstGeom prst="roundRect">
            <a:avLst/>
          </a:prstGeom>
          <a:solidFill>
            <a:srgbClr val="1C2B43"/>
          </a:solidFill>
          <a:ln>
            <a:solidFill>
              <a:srgbClr val="364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2212848"/>
            <a:ext cx="64008" cy="2523744"/>
          </a:xfrm>
          <a:prstGeom prst="rect">
            <a:avLst/>
          </a:prstGeom>
          <a:solidFill>
            <a:srgbClr val="5DB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8" y="2267712"/>
            <a:ext cx="4910328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F8FAFD"/>
                </a:solidFill>
                <a:latin typeface="Aptos"/>
              </a:rPr>
              <a:t>POTENTIAL FIT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761487"/>
            <a:ext cx="4873752" cy="19933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E5EDF7"/>
                </a:solidFill>
                <a:latin typeface="Aptos"/>
              </a:rPr>
              <a:t>• Drafting scripts, queries, and runbooks
• Explaining unfamiliar APIs or error messages
• Summarizing logs and suggesting investigation paths
• Generating first-pass documentation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103120"/>
            <a:ext cx="5257800" cy="2743200"/>
          </a:xfrm>
          <a:prstGeom prst="roundRect">
            <a:avLst/>
          </a:prstGeom>
          <a:solidFill>
            <a:srgbClr val="1C2B43"/>
          </a:solidFill>
          <a:ln>
            <a:solidFill>
              <a:srgbClr val="364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17920" y="2212848"/>
            <a:ext cx="64008" cy="2523744"/>
          </a:xfrm>
          <a:prstGeom prst="rect">
            <a:avLst/>
          </a:prstGeom>
          <a:solidFill>
            <a:srgbClr val="F6A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19088" y="2267712"/>
            <a:ext cx="4910328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F8FAFD"/>
                </a:solidFill>
                <a:latin typeface="Aptos"/>
              </a:rPr>
              <a:t>REQUIRES HUMAN 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761487"/>
            <a:ext cx="4873752" cy="19933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E5EDF7"/>
                </a:solidFill>
                <a:latin typeface="Aptos"/>
              </a:rPr>
              <a:t>• Unverified commands or configuration changes
• Decisions without environment context
• Security, access, compliance, or cost trade-offs
• Actions that are difficult to audit or reverse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303520"/>
            <a:ext cx="1060704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E5EDF7"/>
                </a:solidFill>
                <a:latin typeface="Aptos"/>
              </a:rPr>
              <a:t>CHECK BEFORE USE: Validate outputs, test safely, apply least privilege, protect sensitive data, and keep change control in place.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10528"/>
            <a:ext cx="50292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AEBED3"/>
                </a:solidFill>
                <a:latin typeface="Aptos"/>
              </a:rPr>
              <a:t>VIADMIN → CLOUD ADMIN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43C7D2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2B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7899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43C7D2"/>
                </a:solidFill>
                <a:latin typeface="Aptos"/>
              </a:rPr>
              <a:t>05 • TAKEAWAY 3: SKILL MAPPING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58952"/>
            <a:ext cx="1097280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F8FAFD"/>
                </a:solidFill>
                <a:latin typeface="Aptos"/>
              </a:rPr>
              <a:t>Translate the work you already know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481328"/>
            <a:ext cx="107899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AEBED3"/>
                </a:solidFill>
                <a:latin typeface="Aptos"/>
              </a:rPr>
              <a:t>The goal is not to start over—it’s to extend proven operational thinking into cloud-native models.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65960"/>
            <a:ext cx="3246120" cy="502920"/>
          </a:xfrm>
          <a:prstGeom prst="roundRect">
            <a:avLst/>
          </a:prstGeom>
          <a:solidFill>
            <a:srgbClr val="377B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95528" y="2075688"/>
            <a:ext cx="3026663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8FAFD"/>
                </a:solidFill>
                <a:latin typeface="Aptos"/>
              </a:rPr>
              <a:t>VIADMIN EXPERIENCE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60520" y="1965960"/>
            <a:ext cx="3520440" cy="502920"/>
          </a:xfrm>
          <a:prstGeom prst="roundRect">
            <a:avLst/>
          </a:prstGeom>
          <a:solidFill>
            <a:srgbClr val="377B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270248" y="2075688"/>
            <a:ext cx="3300984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8FAFD"/>
                </a:solidFill>
                <a:latin typeface="Aptos"/>
              </a:rPr>
              <a:t>CLOUD EQUIVALENT TO EXPLORE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09560" y="1965960"/>
            <a:ext cx="3566160" cy="502920"/>
          </a:xfrm>
          <a:prstGeom prst="roundRect">
            <a:avLst/>
          </a:prstGeom>
          <a:solidFill>
            <a:srgbClr val="377B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19288" y="2075688"/>
            <a:ext cx="3346704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8FAFD"/>
                </a:solidFill>
                <a:latin typeface="Aptos"/>
              </a:rPr>
              <a:t>NEW QUESTIONS TO ASK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2606040"/>
            <a:ext cx="3246120" cy="539496"/>
          </a:xfrm>
          <a:prstGeom prst="rect">
            <a:avLst/>
          </a:prstGeom>
          <a:solidFill>
            <a:srgbClr val="1C2B43"/>
          </a:solidFill>
          <a:ln>
            <a:solidFill>
              <a:srgbClr val="364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95528" y="2688336"/>
            <a:ext cx="3044951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E5EDF7"/>
                </a:solidFill>
                <a:latin typeface="Aptos"/>
              </a:rPr>
              <a:t>VM provisioning &amp; templates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60520" y="2606040"/>
            <a:ext cx="3520440" cy="539496"/>
          </a:xfrm>
          <a:prstGeom prst="rect">
            <a:avLst/>
          </a:prstGeom>
          <a:solidFill>
            <a:srgbClr val="1C2B43"/>
          </a:solidFill>
          <a:ln>
            <a:solidFill>
              <a:srgbClr val="364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270248" y="2688336"/>
            <a:ext cx="331927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E5EDF7"/>
                </a:solidFill>
                <a:latin typeface="Aptos"/>
              </a:rPr>
              <a:t>Compute instances, images, IaC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09560" y="2606040"/>
            <a:ext cx="3566160" cy="539496"/>
          </a:xfrm>
          <a:prstGeom prst="rect">
            <a:avLst/>
          </a:prstGeom>
          <a:solidFill>
            <a:srgbClr val="1C2B43"/>
          </a:solidFill>
          <a:ln>
            <a:solidFill>
              <a:srgbClr val="364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19288" y="2688336"/>
            <a:ext cx="3364991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5EDF7"/>
                </a:solidFill>
                <a:latin typeface="Aptos"/>
              </a:rPr>
              <a:t>How is desired state defined and reviewed?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3227832"/>
            <a:ext cx="3246120" cy="539496"/>
          </a:xfrm>
          <a:prstGeom prst="rect">
            <a:avLst/>
          </a:prstGeom>
          <a:solidFill>
            <a:srgbClr val="17263D"/>
          </a:solidFill>
          <a:ln>
            <a:solidFill>
              <a:srgbClr val="364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95528" y="3310128"/>
            <a:ext cx="3044951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E5EDF7"/>
                </a:solidFill>
                <a:latin typeface="Aptos"/>
              </a:rPr>
              <a:t>Clusters, HA &amp; capacity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60520" y="3227832"/>
            <a:ext cx="3520440" cy="539496"/>
          </a:xfrm>
          <a:prstGeom prst="rect">
            <a:avLst/>
          </a:prstGeom>
          <a:solidFill>
            <a:srgbClr val="17263D"/>
          </a:solidFill>
          <a:ln>
            <a:solidFill>
              <a:srgbClr val="364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270248" y="3310128"/>
            <a:ext cx="331927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E5EDF7"/>
                </a:solidFill>
                <a:latin typeface="Aptos"/>
              </a:rPr>
              <a:t>Regions/zones, autoscaling, quotas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09560" y="3227832"/>
            <a:ext cx="3566160" cy="539496"/>
          </a:xfrm>
          <a:prstGeom prst="rect">
            <a:avLst/>
          </a:prstGeom>
          <a:solidFill>
            <a:srgbClr val="17263D"/>
          </a:solidFill>
          <a:ln>
            <a:solidFill>
              <a:srgbClr val="364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019288" y="3310128"/>
            <a:ext cx="3364991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5EDF7"/>
                </a:solidFill>
                <a:latin typeface="Aptos"/>
              </a:rPr>
              <a:t>What are the failure domains and limits?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" y="3849624"/>
            <a:ext cx="3246120" cy="539496"/>
          </a:xfrm>
          <a:prstGeom prst="rect">
            <a:avLst/>
          </a:prstGeom>
          <a:solidFill>
            <a:srgbClr val="1C2B43"/>
          </a:solidFill>
          <a:ln>
            <a:solidFill>
              <a:srgbClr val="364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95528" y="3931920"/>
            <a:ext cx="3044951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E5EDF7"/>
                </a:solidFill>
                <a:latin typeface="Aptos"/>
              </a:rPr>
              <a:t>Networks &amp; port groups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60520" y="3849624"/>
            <a:ext cx="3520440" cy="539496"/>
          </a:xfrm>
          <a:prstGeom prst="rect">
            <a:avLst/>
          </a:prstGeom>
          <a:solidFill>
            <a:srgbClr val="1C2B43"/>
          </a:solidFill>
          <a:ln>
            <a:solidFill>
              <a:srgbClr val="364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270248" y="3931920"/>
            <a:ext cx="331927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E5EDF7"/>
                </a:solidFill>
                <a:latin typeface="Aptos"/>
              </a:rPr>
              <a:t>VPC/VNet, subnets, routes, security rules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909560" y="3849624"/>
            <a:ext cx="3566160" cy="539496"/>
          </a:xfrm>
          <a:prstGeom prst="rect">
            <a:avLst/>
          </a:prstGeom>
          <a:solidFill>
            <a:srgbClr val="1C2B43"/>
          </a:solidFill>
          <a:ln>
            <a:solidFill>
              <a:srgbClr val="364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019288" y="3931920"/>
            <a:ext cx="3364991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5EDF7"/>
                </a:solidFill>
                <a:latin typeface="Aptos"/>
              </a:rPr>
              <a:t>Who owns connectivity and policy?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5800" y="4471416"/>
            <a:ext cx="3246120" cy="539496"/>
          </a:xfrm>
          <a:prstGeom prst="rect">
            <a:avLst/>
          </a:prstGeom>
          <a:solidFill>
            <a:srgbClr val="17263D"/>
          </a:solidFill>
          <a:ln>
            <a:solidFill>
              <a:srgbClr val="364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95528" y="4553712"/>
            <a:ext cx="3044951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E5EDF7"/>
                </a:solidFill>
                <a:latin typeface="Aptos"/>
              </a:rPr>
              <a:t>Datastores &amp; storage tiers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60520" y="4471416"/>
            <a:ext cx="3520440" cy="539496"/>
          </a:xfrm>
          <a:prstGeom prst="rect">
            <a:avLst/>
          </a:prstGeom>
          <a:solidFill>
            <a:srgbClr val="17263D"/>
          </a:solidFill>
          <a:ln>
            <a:solidFill>
              <a:srgbClr val="364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270248" y="4553712"/>
            <a:ext cx="331927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E5EDF7"/>
                </a:solidFill>
                <a:latin typeface="Aptos"/>
              </a:rPr>
              <a:t>Object/block/file storage, lifecycle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909560" y="4471416"/>
            <a:ext cx="3566160" cy="539496"/>
          </a:xfrm>
          <a:prstGeom prst="rect">
            <a:avLst/>
          </a:prstGeom>
          <a:solidFill>
            <a:srgbClr val="17263D"/>
          </a:solidFill>
          <a:ln>
            <a:solidFill>
              <a:srgbClr val="364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019288" y="4553712"/>
            <a:ext cx="3364991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5EDF7"/>
                </a:solidFill>
                <a:latin typeface="Aptos"/>
              </a:rPr>
              <a:t>What drives durability, performance, and cost?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85800" y="5093208"/>
            <a:ext cx="3246120" cy="539496"/>
          </a:xfrm>
          <a:prstGeom prst="rect">
            <a:avLst/>
          </a:prstGeom>
          <a:solidFill>
            <a:srgbClr val="1C2B43"/>
          </a:solidFill>
          <a:ln>
            <a:solidFill>
              <a:srgbClr val="364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95528" y="5175504"/>
            <a:ext cx="3044951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E5EDF7"/>
                </a:solidFill>
                <a:latin typeface="Aptos"/>
              </a:rPr>
              <a:t>Monitoring &amp; troubleshooting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60520" y="5093208"/>
            <a:ext cx="3520440" cy="539496"/>
          </a:xfrm>
          <a:prstGeom prst="rect">
            <a:avLst/>
          </a:prstGeom>
          <a:solidFill>
            <a:srgbClr val="1C2B43"/>
          </a:solidFill>
          <a:ln>
            <a:solidFill>
              <a:srgbClr val="364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270248" y="5175504"/>
            <a:ext cx="331927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E5EDF7"/>
                </a:solidFill>
                <a:latin typeface="Aptos"/>
              </a:rPr>
              <a:t>Cloud-native telemetry, logs, traces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909560" y="5093208"/>
            <a:ext cx="3566160" cy="539496"/>
          </a:xfrm>
          <a:prstGeom prst="rect">
            <a:avLst/>
          </a:prstGeom>
          <a:solidFill>
            <a:srgbClr val="1C2B43"/>
          </a:solidFill>
          <a:ln>
            <a:solidFill>
              <a:srgbClr val="364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019288" y="5175504"/>
            <a:ext cx="3364991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5EDF7"/>
                </a:solidFill>
                <a:latin typeface="Aptos"/>
              </a:rPr>
              <a:t>How do we connect signals to service health?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" y="6510528"/>
            <a:ext cx="50292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AEBED3"/>
                </a:solidFill>
                <a:latin typeface="Aptos"/>
              </a:rPr>
              <a:t>VIADMIN → CLOUD ADMIN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43C7D2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2B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7899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43C7D2"/>
                </a:solidFill>
                <a:latin typeface="Aptos"/>
              </a:rPr>
              <a:t>05 • BEYOND THE HYPERVISOR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58952"/>
            <a:ext cx="1097280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F8FAFD"/>
                </a:solidFill>
                <a:latin typeface="Aptos"/>
              </a:rPr>
              <a:t>Cloud administration adds new dimensions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481328"/>
            <a:ext cx="107899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AEBED3"/>
                </a:solidFill>
                <a:latin typeface="Aptos"/>
              </a:rPr>
              <a:t>Use this as a prompt list, not a checklist everyone must master at once.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57400"/>
            <a:ext cx="3520440" cy="1280160"/>
          </a:xfrm>
          <a:prstGeom prst="roundRect">
            <a:avLst/>
          </a:prstGeom>
          <a:solidFill>
            <a:srgbClr val="1C2B43"/>
          </a:solidFill>
          <a:ln>
            <a:solidFill>
              <a:srgbClr val="364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2167128"/>
            <a:ext cx="64008" cy="1060704"/>
          </a:xfrm>
          <a:prstGeom prst="rect">
            <a:avLst/>
          </a:prstGeom>
          <a:solidFill>
            <a:srgbClr val="43C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8" y="2221992"/>
            <a:ext cx="3172968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8FAFD"/>
                </a:solidFill>
                <a:latin typeface="Aptos"/>
              </a:rPr>
              <a:t>Identity &amp; access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715768"/>
            <a:ext cx="3136392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5EDF7"/>
                </a:solidFill>
                <a:latin typeface="Aptos"/>
              </a:rPr>
              <a:t>Roles, policies, workload identity, least privilege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2057400"/>
            <a:ext cx="3520440" cy="1280160"/>
          </a:xfrm>
          <a:prstGeom prst="roundRect">
            <a:avLst/>
          </a:prstGeom>
          <a:solidFill>
            <a:srgbClr val="1C2B43"/>
          </a:solidFill>
          <a:ln>
            <a:solidFill>
              <a:srgbClr val="364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480560" y="2167128"/>
            <a:ext cx="64008" cy="1060704"/>
          </a:xfrm>
          <a:prstGeom prst="rect">
            <a:avLst/>
          </a:prstGeom>
          <a:solidFill>
            <a:srgbClr val="377B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81728" y="2221992"/>
            <a:ext cx="3172968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8FAFD"/>
                </a:solidFill>
                <a:latin typeface="Aptos"/>
              </a:rPr>
              <a:t>Infrastructure as code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1728" y="2715768"/>
            <a:ext cx="3136392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5EDF7"/>
                </a:solidFill>
                <a:latin typeface="Aptos"/>
              </a:rPr>
              <a:t>Reusable templates, version control, plan/apply workflows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2057400"/>
            <a:ext cx="3520440" cy="1280160"/>
          </a:xfrm>
          <a:prstGeom prst="roundRect">
            <a:avLst/>
          </a:prstGeom>
          <a:solidFill>
            <a:srgbClr val="1C2B43"/>
          </a:solidFill>
          <a:ln>
            <a:solidFill>
              <a:srgbClr val="364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275320" y="2167128"/>
            <a:ext cx="64008" cy="1060704"/>
          </a:xfrm>
          <a:prstGeom prst="rect">
            <a:avLst/>
          </a:prstGeom>
          <a:solidFill>
            <a:srgbClr val="F6A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76488" y="2221992"/>
            <a:ext cx="3172968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8FAFD"/>
                </a:solidFill>
                <a:latin typeface="Aptos"/>
              </a:rPr>
              <a:t>Networking &amp; security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6488" y="2715768"/>
            <a:ext cx="3136392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5EDF7"/>
                </a:solidFill>
                <a:latin typeface="Aptos"/>
              </a:rPr>
              <a:t>Cloud boundaries, private connectivity, zero-trust patterns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630168"/>
            <a:ext cx="3520440" cy="1280160"/>
          </a:xfrm>
          <a:prstGeom prst="roundRect">
            <a:avLst/>
          </a:prstGeom>
          <a:solidFill>
            <a:srgbClr val="1C2B43"/>
          </a:solidFill>
          <a:ln>
            <a:solidFill>
              <a:srgbClr val="364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85800" y="3739896"/>
            <a:ext cx="64008" cy="1060704"/>
          </a:xfrm>
          <a:prstGeom prst="rect">
            <a:avLst/>
          </a:prstGeom>
          <a:solidFill>
            <a:srgbClr val="5DB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86968" y="3794759"/>
            <a:ext cx="3172968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8FAFD"/>
                </a:solidFill>
                <a:latin typeface="Aptos"/>
              </a:rPr>
              <a:t>Observability &amp; reliability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" y="4288536"/>
            <a:ext cx="3136392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5EDF7"/>
                </a:solidFill>
                <a:latin typeface="Aptos"/>
              </a:rPr>
              <a:t>Service-level objectives, telemetry, incident response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80560" y="3630168"/>
            <a:ext cx="3520440" cy="1280160"/>
          </a:xfrm>
          <a:prstGeom prst="roundRect">
            <a:avLst/>
          </a:prstGeom>
          <a:solidFill>
            <a:srgbClr val="1C2B43"/>
          </a:solidFill>
          <a:ln>
            <a:solidFill>
              <a:srgbClr val="364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480560" y="3739896"/>
            <a:ext cx="64008" cy="1060704"/>
          </a:xfrm>
          <a:prstGeom prst="rect">
            <a:avLst/>
          </a:prstGeom>
          <a:solidFill>
            <a:srgbClr val="E068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681728" y="3794759"/>
            <a:ext cx="3172968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8FAFD"/>
                </a:solidFill>
                <a:latin typeface="Aptos"/>
              </a:rPr>
              <a:t>Cost &amp; governance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81728" y="4288536"/>
            <a:ext cx="3136392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5EDF7"/>
                </a:solidFill>
                <a:latin typeface="Aptos"/>
              </a:rPr>
              <a:t>Budgets, tagging, chargeback/showback, policy guardrails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75320" y="3630168"/>
            <a:ext cx="3520440" cy="1280160"/>
          </a:xfrm>
          <a:prstGeom prst="roundRect">
            <a:avLst/>
          </a:prstGeom>
          <a:solidFill>
            <a:srgbClr val="1C2B43"/>
          </a:solidFill>
          <a:ln>
            <a:solidFill>
              <a:srgbClr val="364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275320" y="3739896"/>
            <a:ext cx="64008" cy="1060704"/>
          </a:xfrm>
          <a:prstGeom prst="rect">
            <a:avLst/>
          </a:prstGeom>
          <a:solidFill>
            <a:srgbClr val="43C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476488" y="3794759"/>
            <a:ext cx="3172968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8FAFD"/>
                </a:solidFill>
                <a:latin typeface="Aptos"/>
              </a:rPr>
              <a:t>Containers &amp; platform services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76488" y="4288536"/>
            <a:ext cx="3136392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5EDF7"/>
                </a:solidFill>
                <a:latin typeface="Aptos"/>
              </a:rPr>
              <a:t>Know when VMs are right—and when managed services fit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5486400"/>
            <a:ext cx="10515600" cy="33855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 dirty="0" smtClean="0">
                <a:solidFill>
                  <a:srgbClr val="F8FAFD"/>
                </a:solidFill>
                <a:latin typeface="Aptos"/>
              </a:rPr>
              <a:t>Which </a:t>
            </a:r>
            <a:r>
              <a:rPr sz="1600" b="1" i="0" dirty="0">
                <a:solidFill>
                  <a:srgbClr val="F8FAFD"/>
                </a:solidFill>
                <a:latin typeface="Aptos"/>
              </a:rPr>
              <a:t>of these is already part of your job? Which one causes the most uncertainty?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510528"/>
            <a:ext cx="50292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AEBED3"/>
                </a:solidFill>
                <a:latin typeface="Aptos"/>
              </a:rPr>
              <a:t>VIADMIN → CLOUD ADMIN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43C7D2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2B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7899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43C7D2"/>
                </a:solidFill>
                <a:latin typeface="Aptos"/>
              </a:rPr>
              <a:t>06 • TAKEAWAY 2: IDENTIFY KNOWLEDGE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58952"/>
            <a:ext cx="1097280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F8FAFD"/>
                </a:solidFill>
                <a:latin typeface="Aptos"/>
              </a:rPr>
              <a:t>Benchmark the gap—not the person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481328"/>
            <a:ext cx="107899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AEBED3"/>
                </a:solidFill>
                <a:latin typeface="Aptos"/>
              </a:rPr>
              <a:t>Choose one target role or responsibility, then rate your confidence honestly.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40280"/>
            <a:ext cx="2057400" cy="1828800"/>
          </a:xfrm>
          <a:prstGeom prst="roundRect">
            <a:avLst/>
          </a:prstGeom>
          <a:solidFill>
            <a:srgbClr val="1C2B43"/>
          </a:solidFill>
          <a:ln w="25400">
            <a:solidFill>
              <a:srgbClr val="E068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2487168"/>
            <a:ext cx="178308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E06868"/>
                </a:solidFill>
                <a:latin typeface="Aptos"/>
              </a:rPr>
              <a:t>1  Aware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3063240"/>
            <a:ext cx="173736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E5EDF7"/>
                </a:solidFill>
                <a:latin typeface="Aptos"/>
              </a:rPr>
              <a:t>I can explain the concept.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17520" y="2240280"/>
            <a:ext cx="2057400" cy="1828800"/>
          </a:xfrm>
          <a:prstGeom prst="roundRect">
            <a:avLst/>
          </a:prstGeom>
          <a:solidFill>
            <a:srgbClr val="1C2B43"/>
          </a:solidFill>
          <a:ln w="25400">
            <a:solidFill>
              <a:srgbClr val="F6A5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154679" y="2487168"/>
            <a:ext cx="178308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6A54B"/>
                </a:solidFill>
                <a:latin typeface="Aptos"/>
              </a:rPr>
              <a:t>2  Guided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82112" y="3063240"/>
            <a:ext cx="173736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E5EDF7"/>
                </a:solidFill>
                <a:latin typeface="Aptos"/>
              </a:rPr>
              <a:t>I can do it with a runbook or help.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0" y="2240280"/>
            <a:ext cx="2057400" cy="1828800"/>
          </a:xfrm>
          <a:prstGeom prst="roundRect">
            <a:avLst/>
          </a:prstGeom>
          <a:solidFill>
            <a:srgbClr val="1C2B43"/>
          </a:solidFill>
          <a:ln w="25400">
            <a:solidFill>
              <a:srgbClr val="43C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40680" y="2487168"/>
            <a:ext cx="178308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43C7D2"/>
                </a:solidFill>
                <a:latin typeface="Aptos"/>
              </a:rPr>
              <a:t>3  Independent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68112" y="3063240"/>
            <a:ext cx="173736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E5EDF7"/>
                </a:solidFill>
                <a:latin typeface="Aptos"/>
              </a:rPr>
              <a:t>I can complete routine work safely.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0" y="2240280"/>
            <a:ext cx="2057400" cy="1828800"/>
          </a:xfrm>
          <a:prstGeom prst="roundRect">
            <a:avLst/>
          </a:prstGeom>
          <a:solidFill>
            <a:srgbClr val="1C2B43"/>
          </a:solidFill>
          <a:ln w="25400">
            <a:solidFill>
              <a:srgbClr val="377B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26680" y="2487168"/>
            <a:ext cx="178308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377BCD"/>
                </a:solidFill>
                <a:latin typeface="Aptos"/>
              </a:rPr>
              <a:t>4  Troubleshooter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54112" y="3063240"/>
            <a:ext cx="173736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E5EDF7"/>
                </a:solidFill>
                <a:latin typeface="Aptos"/>
              </a:rPr>
              <a:t>I can diagnose failures and trade-offs.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875520" y="2240280"/>
            <a:ext cx="2057400" cy="1828800"/>
          </a:xfrm>
          <a:prstGeom prst="roundRect">
            <a:avLst/>
          </a:prstGeom>
          <a:solidFill>
            <a:srgbClr val="1C2B43"/>
          </a:solidFill>
          <a:ln w="25400">
            <a:solidFill>
              <a:srgbClr val="5DB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012680" y="2487168"/>
            <a:ext cx="178308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5DBE91"/>
                </a:solidFill>
                <a:latin typeface="Aptos"/>
              </a:rPr>
              <a:t>5  Design / Lead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40112" y="3063240"/>
            <a:ext cx="173736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E5EDF7"/>
                </a:solidFill>
                <a:latin typeface="Aptos"/>
              </a:rPr>
              <a:t>I can design standards and guide others.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486400"/>
            <a:ext cx="105156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AEBED3"/>
                </a:solidFill>
                <a:latin typeface="Aptos"/>
              </a:rPr>
              <a:t>Peer exchange: Pair up. Each person shares one strength, one gap, and one resource that helped.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510528"/>
            <a:ext cx="50292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AEBED3"/>
                </a:solidFill>
                <a:latin typeface="Aptos"/>
              </a:rPr>
              <a:t>VIADMIN → CLOUD ADMIN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43C7D2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2B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7899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43C7D2"/>
                </a:solidFill>
                <a:latin typeface="Aptos"/>
              </a:rPr>
              <a:t>08 • TAKEAWAY 4: COMMUNITY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58952"/>
            <a:ext cx="1097280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F8FAFD"/>
                </a:solidFill>
                <a:latin typeface="Aptos"/>
              </a:rPr>
              <a:t>Turn the conversation into a 30-day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481328"/>
            <a:ext cx="107899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AEBED3"/>
                </a:solidFill>
                <a:latin typeface="Aptos"/>
              </a:rPr>
              <a:t>Keep the roadmap small enough to execute alongside the day job.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965960"/>
            <a:ext cx="21945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43C7D2"/>
                </a:solidFill>
                <a:latin typeface="Aptos"/>
              </a:rPr>
              <a:t>PRIORITY SKILL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80360" y="1965960"/>
            <a:ext cx="81381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E5EDF7"/>
                </a:solidFill>
                <a:latin typeface="Aptos"/>
              </a:rPr>
              <a:t>The one gap that matters most for my target role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441448"/>
            <a:ext cx="10469880" cy="10972"/>
          </a:xfrm>
          <a:prstGeom prst="rect">
            <a:avLst/>
          </a:prstGeom>
          <a:solidFill>
            <a:srgbClr val="364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679191"/>
            <a:ext cx="21945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43C7D2"/>
                </a:solidFill>
                <a:latin typeface="Aptos"/>
              </a:rPr>
              <a:t>LEARNING 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360" y="2679191"/>
            <a:ext cx="81381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E5EDF7"/>
                </a:solidFill>
                <a:latin typeface="Aptos"/>
              </a:rPr>
              <a:t>Lab, course, docs, peer pairing, or a small project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154679"/>
            <a:ext cx="10469880" cy="10972"/>
          </a:xfrm>
          <a:prstGeom prst="rect">
            <a:avLst/>
          </a:prstGeom>
          <a:solidFill>
            <a:srgbClr val="364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3392424"/>
            <a:ext cx="21945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43C7D2"/>
                </a:solidFill>
                <a:latin typeface="Aptos"/>
              </a:rPr>
              <a:t>PROOF OF PROGRESS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60" y="3392424"/>
            <a:ext cx="81381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E5EDF7"/>
                </a:solidFill>
                <a:latin typeface="Aptos"/>
              </a:rPr>
              <a:t>What I will build, explain, troubleshoot, or demonstrate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3867912"/>
            <a:ext cx="10469880" cy="10972"/>
          </a:xfrm>
          <a:prstGeom prst="rect">
            <a:avLst/>
          </a:prstGeom>
          <a:solidFill>
            <a:srgbClr val="364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" y="4105656"/>
            <a:ext cx="21945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43C7D2"/>
                </a:solidFill>
                <a:latin typeface="Aptos"/>
              </a:rPr>
              <a:t>COMMUNITY SUPPORT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0360" y="4105656"/>
            <a:ext cx="81381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E5EDF7"/>
                </a:solidFill>
                <a:latin typeface="Aptos"/>
              </a:rPr>
              <a:t>Person, group, event, or resource that can help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4581144"/>
            <a:ext cx="10469880" cy="10972"/>
          </a:xfrm>
          <a:prstGeom prst="rect">
            <a:avLst/>
          </a:prstGeom>
          <a:solidFill>
            <a:srgbClr val="364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7240" y="4818888"/>
            <a:ext cx="21945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43C7D2"/>
                </a:solidFill>
                <a:latin typeface="Aptos"/>
              </a:rPr>
              <a:t>FIRST STEP + 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80360" y="4818888"/>
            <a:ext cx="81381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E5EDF7"/>
                </a:solidFill>
                <a:latin typeface="Aptos"/>
              </a:rPr>
              <a:t>A specific action I can take in the next 7 days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5294375"/>
            <a:ext cx="10469880" cy="10972"/>
          </a:xfrm>
          <a:prstGeom prst="rect">
            <a:avLst/>
          </a:prstGeom>
          <a:solidFill>
            <a:srgbClr val="364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60" y="5806440"/>
            <a:ext cx="10515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8FAFD"/>
                </a:solidFill>
                <a:latin typeface="Aptos"/>
              </a:rPr>
              <a:t>Make it peer-powered: ask someone to review your plan and schedule a check-in.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510528"/>
            <a:ext cx="50292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AEBED3"/>
                </a:solidFill>
                <a:latin typeface="Aptos"/>
              </a:rPr>
              <a:t>VIADMIN → CLOUD ADMIN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43C7D2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2B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7899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43C7D2"/>
                </a:solidFill>
                <a:latin typeface="Aptos"/>
              </a:rPr>
              <a:t>FACILITATOR GUIDE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58952"/>
            <a:ext cx="1097280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F8FAFD"/>
                </a:solidFill>
                <a:latin typeface="Aptos"/>
              </a:rPr>
              <a:t>Make sure every promised outcome is delivered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481328"/>
            <a:ext cx="107899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AEBED3"/>
                </a:solidFill>
                <a:latin typeface="Aptos"/>
              </a:rPr>
              <a:t>Use these checkpoints to keep the session interactive and outcome-focused.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65960"/>
            <a:ext cx="3200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5DBE91"/>
                </a:solidFill>
                <a:latin typeface="Aptos"/>
              </a:rP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965960"/>
            <a:ext cx="25603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8FAFD"/>
                </a:solidFill>
                <a:latin typeface="Aptos"/>
              </a:rPr>
              <a:t>Deconstruct the hype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1965960"/>
            <a:ext cx="722376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E5EDF7"/>
                </a:solidFill>
                <a:latin typeface="Aptos"/>
              </a:rPr>
              <a:t>Slides 5–6: require evidence, limitations, human oversight, and a real example.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88920"/>
            <a:ext cx="3200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5DBE91"/>
                </a:solidFill>
                <a:latin typeface="Aptos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2788920"/>
            <a:ext cx="25603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8FAFD"/>
                </a:solidFill>
                <a:latin typeface="Aptos"/>
              </a:rPr>
              <a:t>Identify knowledge gaps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788920"/>
            <a:ext cx="722376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E5EDF7"/>
                </a:solidFill>
                <a:latin typeface="Aptos"/>
              </a:rPr>
              <a:t>Slide 9: participants rate skills against a target role and discuss with a peer.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611880"/>
            <a:ext cx="3200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5DBE91"/>
                </a:solidFill>
                <a:latin typeface="Aptos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3611880"/>
            <a:ext cx="25603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8FAFD"/>
                </a:solidFill>
                <a:latin typeface="Aptos"/>
              </a:rPr>
              <a:t>Skill mapping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3611880"/>
            <a:ext cx="722376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E5EDF7"/>
                </a:solidFill>
                <a:latin typeface="Aptos"/>
              </a:rPr>
              <a:t>Slides 7–8: connect familiar VIAdmin work to cloud services and new competencies.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434840"/>
            <a:ext cx="3200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5DBE91"/>
                </a:solidFill>
                <a:latin typeface="Aptos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4434840"/>
            <a:ext cx="25603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8FAFD"/>
                </a:solidFill>
                <a:latin typeface="Aptos"/>
              </a:rPr>
              <a:t>Community roadmap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4434840"/>
            <a:ext cx="722376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E5EDF7"/>
                </a:solidFill>
                <a:latin typeface="Aptos"/>
              </a:rPr>
              <a:t>Slides 10–12: use the scenario, peer resources, and a 30-day action plan.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510528"/>
            <a:ext cx="50292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AEBED3"/>
                </a:solidFill>
                <a:latin typeface="Aptos"/>
              </a:rPr>
              <a:t>VIADMIN → CLOUD ADMIN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43C7D2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2B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8823960" y="0"/>
            <a:ext cx="3364992" cy="6858000"/>
          </a:xfrm>
          <a:prstGeom prst="roundRect">
            <a:avLst/>
          </a:prstGeom>
          <a:solidFill>
            <a:srgbClr val="1B2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9464040" y="731520"/>
            <a:ext cx="1828800" cy="1737360"/>
          </a:xfrm>
          <a:prstGeom prst="roundRect">
            <a:avLst/>
          </a:prstGeom>
          <a:solidFill>
            <a:srgbClr val="36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0195560" y="2743200"/>
            <a:ext cx="1143000" cy="1143000"/>
          </a:xfrm>
          <a:prstGeom prst="roundRect">
            <a:avLst/>
          </a:prstGeom>
          <a:solidFill>
            <a:srgbClr val="22A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098280" y="4389120"/>
            <a:ext cx="2148840" cy="1097280"/>
          </a:xfrm>
          <a:prstGeom prst="roundRect">
            <a:avLst/>
          </a:prstGeom>
          <a:solidFill>
            <a:srgbClr val="2C41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7680960" cy="155448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3600" b="1">
                <a:solidFill>
                  <a:srgbClr val="FAFCFF"/>
                </a:solidFill>
                <a:latin typeface="Aptos"/>
              </a:rPr>
              <a:t>AI BUZZWORDS,
DECODED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2880360"/>
            <a:ext cx="7132320" cy="91440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2000" b="0">
                <a:solidFill>
                  <a:srgbClr val="AABBCF"/>
                </a:solidFill>
                <a:latin typeface="Aptos"/>
              </a:rPr>
              <a:t>What the terms mean, what the technology does,
and what technical teams should ask next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4800600"/>
            <a:ext cx="7223760" cy="50292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400" b="1">
                <a:solidFill>
                  <a:srgbClr val="22A99B"/>
                </a:solidFill>
                <a:latin typeface="Aptos"/>
              </a:rPr>
              <a:t>A practical guide for infrastructure, operations, and technology leaders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5760720"/>
            <a:ext cx="7132320" cy="32004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300" b="0">
                <a:solidFill>
                  <a:srgbClr val="FAFCFF"/>
                </a:solidFill>
                <a:latin typeface="Aptos"/>
              </a:rPr>
              <a:t>Less hype. Better questions. More useful outcomes.</a:t>
            </a:r>
          </a:p>
        </p:txBody>
      </p:sp>
    </p:spTree>
    <p:extLst>
      <p:ext uri="{BB962C8B-B14F-4D97-AF65-F5344CB8AC3E}">
        <p14:creationId xmlns:p14="http://schemas.microsoft.com/office/powerpoint/2010/main" val="20417636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2B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789920" cy="53035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2700" b="1">
                <a:solidFill>
                  <a:srgbClr val="FAFCFF"/>
                </a:solidFill>
                <a:latin typeface="Aptos"/>
              </a:rPr>
              <a:t>The problem with AI language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78408"/>
            <a:ext cx="777240" cy="54864"/>
          </a:xfrm>
          <a:prstGeom prst="rect">
            <a:avLst/>
          </a:prstGeom>
          <a:solidFill>
            <a:srgbClr val="22A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326880" y="438912"/>
            <a:ext cx="2148840" cy="219456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r"/>
            <a:r>
              <a:rPr sz="900" b="1">
                <a:solidFill>
                  <a:srgbClr val="22A99B"/>
                </a:solidFill>
                <a:latin typeface="Aptos"/>
              </a:rPr>
              <a:t>START HERE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115568"/>
            <a:ext cx="10972800" cy="38404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300" b="0">
                <a:solidFill>
                  <a:srgbClr val="AABBCF"/>
                </a:solidFill>
                <a:latin typeface="Aptos"/>
              </a:rPr>
              <a:t>The same label can describe very different capabilities.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737360"/>
            <a:ext cx="5321808" cy="4096512"/>
          </a:xfrm>
          <a:prstGeom prst="roundRect">
            <a:avLst/>
          </a:prstGeom>
          <a:solidFill>
            <a:srgbClr val="263B5B"/>
          </a:solidFill>
          <a:ln>
            <a:solidFill>
              <a:srgbClr val="394C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1965960"/>
            <a:ext cx="4800600" cy="34747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700" b="1">
                <a:solidFill>
                  <a:srgbClr val="3670BE"/>
                </a:solidFill>
                <a:latin typeface="Aptos"/>
              </a:rPr>
              <a:t>THE MARKETING VERSION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450592"/>
            <a:ext cx="4828032" cy="30632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t>•  Words like “intelligent,” “autonomous,” and “agentic” sound precise—but often are not.</a:t>
            </a:r>
          </a:p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t>•  Vendors may use the same term for different architectures and levels of maturity.</a:t>
            </a:r>
          </a:p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t>•  A demo proves a workflow can work once; it does not prove production reliability.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6208" y="1737360"/>
            <a:ext cx="5321808" cy="4096512"/>
          </a:xfrm>
          <a:prstGeom prst="roundRect">
            <a:avLst/>
          </a:prstGeom>
          <a:solidFill>
            <a:srgbClr val="263B5B"/>
          </a:solidFill>
          <a:ln>
            <a:solidFill>
              <a:srgbClr val="394C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55664" y="1965960"/>
            <a:ext cx="4800600" cy="34747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700" b="1">
                <a:solidFill>
                  <a:srgbClr val="22A99B"/>
                </a:solidFill>
                <a:latin typeface="Aptos"/>
              </a:rPr>
              <a:t>THE PRACTICAL VERSION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55664" y="2450592"/>
            <a:ext cx="4828032" cy="30632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t>•  Ask what the system actually does, using which data and models.</a:t>
            </a:r>
          </a:p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t>•  Separate a capability from a product feature and from a business outcome.</a:t>
            </a:r>
          </a:p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t>•  Demand measurable results, clear limits, and a safe failure mode.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5961888"/>
            <a:ext cx="1234440" cy="20116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900" b="1">
                <a:solidFill>
                  <a:srgbClr val="F5B742"/>
                </a:solidFill>
                <a:latin typeface="Aptos"/>
              </a:rPr>
              <a:t>REALITY CHECK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5907024"/>
            <a:ext cx="9646920" cy="32004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200" b="0">
                <a:solidFill>
                  <a:srgbClr val="FAFCFF"/>
                </a:solidFill>
                <a:latin typeface="Aptos"/>
              </a:rPr>
              <a:t>Translate every buzzword into a behavior you can test.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6510528"/>
            <a:ext cx="9875520" cy="16459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800" b="0">
                <a:solidFill>
                  <a:srgbClr val="AABBCF"/>
                </a:solidFill>
                <a:latin typeface="Aptos"/>
              </a:rPr>
              <a:t>AI BUZZWORDS, DECODED • PRACTICAL GUIDE FOR TECHNICAL TEAMS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r"/>
            <a:r>
              <a:rPr sz="900" b="1">
                <a:solidFill>
                  <a:srgbClr val="AABBCF"/>
                </a:solidFill>
                <a:latin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944819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2B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789920" cy="53035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2700" b="1">
                <a:solidFill>
                  <a:srgbClr val="FAFCFF"/>
                </a:solidFill>
                <a:latin typeface="Aptos"/>
              </a:rPr>
              <a:t>A quick map of the AI landscape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78408"/>
            <a:ext cx="777240" cy="54864"/>
          </a:xfrm>
          <a:prstGeom prst="rect">
            <a:avLst/>
          </a:prstGeom>
          <a:solidFill>
            <a:srgbClr val="22A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326880" y="438912"/>
            <a:ext cx="2148840" cy="219456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r"/>
            <a:r>
              <a:rPr sz="900" b="1">
                <a:solidFill>
                  <a:srgbClr val="22A99B"/>
                </a:solidFill>
                <a:latin typeface="Aptos"/>
              </a:rP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115568"/>
            <a:ext cx="10972800" cy="38404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300" b="0">
                <a:solidFill>
                  <a:srgbClr val="AABBCF"/>
                </a:solidFill>
                <a:latin typeface="Aptos"/>
              </a:rPr>
              <a:t>These terms are related, but they are not interchangeable.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600200"/>
            <a:ext cx="5376672" cy="1234440"/>
          </a:xfrm>
          <a:prstGeom prst="roundRect">
            <a:avLst/>
          </a:prstGeom>
          <a:solidFill>
            <a:srgbClr val="263B5B"/>
          </a:solidFill>
          <a:ln>
            <a:solidFill>
              <a:srgbClr val="394C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9536" y="1746504"/>
            <a:ext cx="4892040" cy="25603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600" b="1">
                <a:solidFill>
                  <a:srgbClr val="3670BE"/>
                </a:solidFill>
                <a:latin typeface="Aptos"/>
              </a:rPr>
              <a:t>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103120"/>
            <a:ext cx="4892040" cy="53035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200" b="0">
                <a:solidFill>
                  <a:srgbClr val="FAFCFF"/>
                </a:solidFill>
                <a:latin typeface="Aptos"/>
              </a:rPr>
              <a:t>Broad field: systems performing tasks associated with human intelligence.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73368" y="1600200"/>
            <a:ext cx="5376672" cy="1234440"/>
          </a:xfrm>
          <a:prstGeom prst="roundRect">
            <a:avLst/>
          </a:prstGeom>
          <a:solidFill>
            <a:srgbClr val="263B5B"/>
          </a:solidFill>
          <a:ln>
            <a:solidFill>
              <a:srgbClr val="394C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74536" y="1746504"/>
            <a:ext cx="4892040" cy="25603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600" b="1">
                <a:solidFill>
                  <a:srgbClr val="22A99B"/>
                </a:solidFill>
                <a:latin typeface="Aptos"/>
              </a:rPr>
              <a:t>Machine learning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74536" y="2103120"/>
            <a:ext cx="4892040" cy="53035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200" b="0">
                <a:solidFill>
                  <a:srgbClr val="FAFCFF"/>
                </a:solidFill>
                <a:latin typeface="Aptos"/>
              </a:rPr>
              <a:t>Models learn patterns from examples or data.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081528"/>
            <a:ext cx="5376672" cy="1234440"/>
          </a:xfrm>
          <a:prstGeom prst="roundRect">
            <a:avLst/>
          </a:prstGeom>
          <a:solidFill>
            <a:srgbClr val="263B5B"/>
          </a:solidFill>
          <a:ln>
            <a:solidFill>
              <a:srgbClr val="394C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9536" y="3227832"/>
            <a:ext cx="4892040" cy="25603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600" b="1">
                <a:solidFill>
                  <a:srgbClr val="3670BE"/>
                </a:solidFill>
                <a:latin typeface="Aptos"/>
              </a:rPr>
              <a:t>Deep learning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3584448"/>
            <a:ext cx="4892040" cy="53035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200" b="0">
                <a:solidFill>
                  <a:srgbClr val="FAFCFF"/>
                </a:solidFill>
                <a:latin typeface="Aptos"/>
              </a:rPr>
              <a:t>Machine learning using multi-layer neural networks.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73368" y="3081528"/>
            <a:ext cx="5376672" cy="1234440"/>
          </a:xfrm>
          <a:prstGeom prst="roundRect">
            <a:avLst/>
          </a:prstGeom>
          <a:solidFill>
            <a:srgbClr val="263B5B"/>
          </a:solidFill>
          <a:ln>
            <a:solidFill>
              <a:srgbClr val="394C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74536" y="3227832"/>
            <a:ext cx="4892040" cy="25603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600" b="1">
                <a:solidFill>
                  <a:srgbClr val="22A99B"/>
                </a:solidFill>
                <a:latin typeface="Aptos"/>
              </a:rPr>
              <a:t>Generative 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74536" y="3584448"/>
            <a:ext cx="4892040" cy="53035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200" b="0">
                <a:solidFill>
                  <a:srgbClr val="FAFCFF"/>
                </a:solidFill>
                <a:latin typeface="Aptos"/>
              </a:rPr>
              <a:t>Creates content such as text, images, audio, or code.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4562856"/>
            <a:ext cx="5376672" cy="1234440"/>
          </a:xfrm>
          <a:prstGeom prst="roundRect">
            <a:avLst/>
          </a:prstGeom>
          <a:solidFill>
            <a:srgbClr val="263B5B"/>
          </a:solidFill>
          <a:ln>
            <a:solidFill>
              <a:srgbClr val="394C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59536" y="4709160"/>
            <a:ext cx="4892040" cy="25603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600" b="1">
                <a:solidFill>
                  <a:srgbClr val="3670BE"/>
                </a:solidFill>
                <a:latin typeface="Aptos"/>
              </a:rPr>
              <a:t>Foundation model / LLM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" y="5065776"/>
            <a:ext cx="4892040" cy="53035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200" b="0">
                <a:solidFill>
                  <a:srgbClr val="FAFCFF"/>
                </a:solidFill>
                <a:latin typeface="Aptos"/>
              </a:rPr>
              <a:t>Broadly trained model; LLMs focus on language.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73368" y="4562856"/>
            <a:ext cx="5376672" cy="1234440"/>
          </a:xfrm>
          <a:prstGeom prst="roundRect">
            <a:avLst/>
          </a:prstGeom>
          <a:solidFill>
            <a:srgbClr val="263B5B"/>
          </a:solidFill>
          <a:ln>
            <a:solidFill>
              <a:srgbClr val="394C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74536" y="4709160"/>
            <a:ext cx="4892040" cy="25603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600" b="1">
                <a:solidFill>
                  <a:srgbClr val="22A99B"/>
                </a:solidFill>
                <a:latin typeface="Aptos"/>
              </a:rPr>
              <a:t>AI application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74536" y="5065776"/>
            <a:ext cx="4892040" cy="53035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200" b="0">
                <a:solidFill>
                  <a:srgbClr val="FAFCFF"/>
                </a:solidFill>
                <a:latin typeface="Aptos"/>
              </a:rPr>
              <a:t>The product workflow around a model: data, tools, controls, and UI.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" y="6510528"/>
            <a:ext cx="9875520" cy="16459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800" b="0">
                <a:solidFill>
                  <a:srgbClr val="AABBCF"/>
                </a:solidFill>
                <a:latin typeface="Aptos"/>
              </a:rPr>
              <a:t>AI BUZZWORDS, DECODED • PRACTICAL GUIDE FOR TECHNICAL TEAMS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r"/>
            <a:r>
              <a:rPr sz="900" b="1">
                <a:solidFill>
                  <a:srgbClr val="AABBCF"/>
                </a:solidFill>
                <a:latin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42044776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2B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789920" cy="53035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2700" b="1">
                <a:solidFill>
                  <a:srgbClr val="FAFCFF"/>
                </a:solidFill>
                <a:latin typeface="Aptos"/>
              </a:rPr>
              <a:t>Machine learning terms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78408"/>
            <a:ext cx="777240" cy="54864"/>
          </a:xfrm>
          <a:prstGeom prst="rect">
            <a:avLst/>
          </a:prstGeom>
          <a:solidFill>
            <a:srgbClr val="22A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326880" y="438912"/>
            <a:ext cx="2148840" cy="219456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r"/>
            <a:r>
              <a:rPr sz="900" b="1">
                <a:solidFill>
                  <a:srgbClr val="22A99B"/>
                </a:solidFill>
                <a:latin typeface="Aptos"/>
              </a:rPr>
              <a:t>CORE CONCEPTS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115568"/>
            <a:ext cx="10972800" cy="38404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300" b="0">
                <a:solidFill>
                  <a:srgbClr val="AABBCF"/>
                </a:solidFill>
                <a:latin typeface="Aptos"/>
              </a:rPr>
              <a:t>Most AI systems depend on patterns learned from data.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737360"/>
            <a:ext cx="5321808" cy="4096512"/>
          </a:xfrm>
          <a:prstGeom prst="roundRect">
            <a:avLst/>
          </a:prstGeom>
          <a:solidFill>
            <a:srgbClr val="263B5B"/>
          </a:solidFill>
          <a:ln>
            <a:solidFill>
              <a:srgbClr val="394C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1965960"/>
            <a:ext cx="4800600" cy="34747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700" b="1">
                <a:solidFill>
                  <a:srgbClr val="3670BE"/>
                </a:solidFill>
                <a:latin typeface="Aptos"/>
              </a:rPr>
              <a:t>TERMS YOU'LL HEAR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450592"/>
            <a:ext cx="4828032" cy="30632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t>•  Training: adjusting a model using examples.</a:t>
            </a:r>
          </a:p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t>•  Inference: using a trained model to produce an output.</a:t>
            </a:r>
          </a:p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t>•  Supervised learning: learning from labeled examples.</a:t>
            </a:r>
          </a:p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t>•  Unsupervised learning: finding structure without target labels.</a:t>
            </a:r>
          </a:p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t>•  Reinforcement learning: learning through actions, feedback, or rewards.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6208" y="1737360"/>
            <a:ext cx="5321808" cy="4096512"/>
          </a:xfrm>
          <a:prstGeom prst="roundRect">
            <a:avLst/>
          </a:prstGeom>
          <a:solidFill>
            <a:srgbClr val="263B5B"/>
          </a:solidFill>
          <a:ln>
            <a:solidFill>
              <a:srgbClr val="394C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55664" y="1965960"/>
            <a:ext cx="4800600" cy="34747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700" b="1">
                <a:solidFill>
                  <a:srgbClr val="22A99B"/>
                </a:solidFill>
                <a:latin typeface="Aptos"/>
              </a:rPr>
              <a:t>WHAT TO ASK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55664" y="2450592"/>
            <a:ext cx="4828032" cy="30632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t>•  What data was used—and is it representative of our environment?</a:t>
            </a:r>
          </a:p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t>•  What does good performance mean, and how is it measured?</a:t>
            </a:r>
          </a:p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t>•  Does the system need retraining as conditions change?</a:t>
            </a:r>
          </a:p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t>•  Can results be explained, audited, or reproduced?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5961888"/>
            <a:ext cx="1234440" cy="20116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900" b="1">
                <a:solidFill>
                  <a:srgbClr val="F5B742"/>
                </a:solidFill>
                <a:latin typeface="Aptos"/>
              </a:rPr>
              <a:t>REALITY CHECK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5907024"/>
            <a:ext cx="9646920" cy="32004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200" b="0">
                <a:solidFill>
                  <a:srgbClr val="FAFCFF"/>
                </a:solidFill>
                <a:latin typeface="Aptos"/>
              </a:rPr>
              <a:t>A model learns statistical patterns; it does not automatically understand your business.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6510528"/>
            <a:ext cx="9875520" cy="16459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800" b="0">
                <a:solidFill>
                  <a:srgbClr val="AABBCF"/>
                </a:solidFill>
                <a:latin typeface="Aptos"/>
              </a:rPr>
              <a:t>AI BUZZWORDS, DECODED • PRACTICAL GUIDE FOR TECHNICAL TEAMS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r"/>
            <a:r>
              <a:rPr sz="900" b="1">
                <a:solidFill>
                  <a:srgbClr val="AABBCF"/>
                </a:solidFill>
                <a:latin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31880374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2B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789920" cy="53035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2700" b="1">
                <a:solidFill>
                  <a:srgbClr val="FAFCFF"/>
                </a:solidFill>
                <a:latin typeface="Aptos"/>
              </a:rPr>
              <a:t>Generative AI, LLMs, and tokens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78408"/>
            <a:ext cx="777240" cy="54864"/>
          </a:xfrm>
          <a:prstGeom prst="rect">
            <a:avLst/>
          </a:prstGeom>
          <a:solidFill>
            <a:srgbClr val="22A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326880" y="438912"/>
            <a:ext cx="2148840" cy="219456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r"/>
            <a:r>
              <a:rPr sz="900" b="1">
                <a:solidFill>
                  <a:srgbClr val="22A99B"/>
                </a:solidFill>
                <a:latin typeface="Aptos"/>
              </a:rPr>
              <a:t>CORE CONCEPTS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115568"/>
            <a:ext cx="10972800" cy="38404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300" b="0">
                <a:solidFill>
                  <a:srgbClr val="AABBCF"/>
                </a:solidFill>
                <a:latin typeface="Aptos"/>
              </a:rPr>
              <a:t>Generative systems produce outputs based on learned patterns and supplied context.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737360"/>
            <a:ext cx="5321808" cy="4096512"/>
          </a:xfrm>
          <a:prstGeom prst="roundRect">
            <a:avLst/>
          </a:prstGeom>
          <a:solidFill>
            <a:srgbClr val="263B5B"/>
          </a:solidFill>
          <a:ln>
            <a:solidFill>
              <a:srgbClr val="394C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1965960"/>
            <a:ext cx="4800600" cy="34747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700" b="1">
                <a:solidFill>
                  <a:srgbClr val="3670BE"/>
                </a:solidFill>
                <a:latin typeface="Aptos"/>
              </a:rPr>
              <a:t>THE TERMS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450592"/>
            <a:ext cx="4828032" cy="30632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t>•  Generative AI: creates content rather than only classifying or scoring.</a:t>
            </a:r>
          </a:p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t>•  LLM: large language model, designed to process and generate language.</a:t>
            </a:r>
          </a:p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t>•  Token: a chunk of text processed by a model; not always a whole word.</a:t>
            </a:r>
          </a:p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t>•  Context window: the input and conversation a model can consider at once.</a:t>
            </a:r>
          </a:p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t>•  Multimodal: handles more than one data type, such as text, images, or audio.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6208" y="1737360"/>
            <a:ext cx="5321808" cy="4096512"/>
          </a:xfrm>
          <a:prstGeom prst="roundRect">
            <a:avLst/>
          </a:prstGeom>
          <a:solidFill>
            <a:srgbClr val="263B5B"/>
          </a:solidFill>
          <a:ln>
            <a:solidFill>
              <a:srgbClr val="394C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55664" y="1965960"/>
            <a:ext cx="4800600" cy="34747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700" b="1">
                <a:solidFill>
                  <a:srgbClr val="22A99B"/>
                </a:solidFill>
                <a:latin typeface="Aptos"/>
              </a:rPr>
              <a:t>WHAT IT MEANS IN PRACTICE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55664" y="2450592"/>
            <a:ext cx="4828032" cy="30632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t>•  Longer context can help, but does not guarantee perfect recall.</a:t>
            </a:r>
          </a:p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t>•  A model may summarize logs or draft scripts, but can omit details.</a:t>
            </a:r>
          </a:p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t>•  Multimodal does not mean it can interpret every file accurately.</a:t>
            </a:r>
          </a:p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t>•  Output quality depends on prompt, context, model, and task.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5961888"/>
            <a:ext cx="1234440" cy="20116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900" b="1">
                <a:solidFill>
                  <a:srgbClr val="F5B742"/>
                </a:solidFill>
                <a:latin typeface="Aptos"/>
              </a:rPr>
              <a:t>REALITY CHECK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5907024"/>
            <a:ext cx="9646920" cy="32004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200" b="0">
                <a:solidFill>
                  <a:srgbClr val="FAFCFF"/>
                </a:solidFill>
                <a:latin typeface="Aptos"/>
              </a:rPr>
              <a:t>Fluent output is not proof of factual accuracy.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6510528"/>
            <a:ext cx="9875520" cy="16459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800" b="0">
                <a:solidFill>
                  <a:srgbClr val="AABBCF"/>
                </a:solidFill>
                <a:latin typeface="Aptos"/>
              </a:rPr>
              <a:t>AI BUZZWORDS, DECODED • PRACTICAL GUIDE FOR TECHNICAL TEAMS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r"/>
            <a:r>
              <a:rPr sz="900" b="1">
                <a:solidFill>
                  <a:srgbClr val="AABBCF"/>
                </a:solidFill>
                <a:latin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3978542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2B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789920" cy="53035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2700" b="1">
                <a:solidFill>
                  <a:srgbClr val="FAFCFF"/>
                </a:solidFill>
                <a:latin typeface="Aptos"/>
              </a:rPr>
              <a:t>Hallucinations, grounding, and RAG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78408"/>
            <a:ext cx="777240" cy="54864"/>
          </a:xfrm>
          <a:prstGeom prst="rect">
            <a:avLst/>
          </a:prstGeom>
          <a:solidFill>
            <a:srgbClr val="22A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326880" y="438912"/>
            <a:ext cx="2148840" cy="219456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r"/>
            <a:r>
              <a:rPr sz="900" b="1">
                <a:solidFill>
                  <a:srgbClr val="22A99B"/>
                </a:solidFill>
                <a:latin typeface="Aptos"/>
              </a:rPr>
              <a:t>RELIABILITY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115568"/>
            <a:ext cx="10972800" cy="38404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300" b="0">
                <a:solidFill>
                  <a:srgbClr val="AABBCF"/>
                </a:solidFill>
                <a:latin typeface="Aptos"/>
              </a:rPr>
              <a:t>A confident answer can still be wrong. Grounding connects responses to evidence.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737360"/>
            <a:ext cx="5321808" cy="4096512"/>
          </a:xfrm>
          <a:prstGeom prst="roundRect">
            <a:avLst/>
          </a:prstGeom>
          <a:solidFill>
            <a:srgbClr val="263B5B"/>
          </a:solidFill>
          <a:ln>
            <a:solidFill>
              <a:srgbClr val="394C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1965960"/>
            <a:ext cx="4800600" cy="34747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700" b="1">
                <a:solidFill>
                  <a:srgbClr val="3670BE"/>
                </a:solidFill>
                <a:latin typeface="Aptos"/>
              </a:rPr>
              <a:t>THE TERMS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450592"/>
            <a:ext cx="4828032" cy="30632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t>•  Hallucination: plausible-sounding output that is false or unsupported.</a:t>
            </a:r>
          </a:p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t>•  Grounding: tying a response to trusted data or evidence.</a:t>
            </a:r>
          </a:p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t>•  RAG: retrieval-augmented generation; retrieve sources, then generate an answer.</a:t>
            </a:r>
          </a:p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t>•  Embedding: numerical representation used to compare semantic similarity.</a:t>
            </a:r>
          </a:p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t>•  Vector database: stores and searches vectors, often for similarity retrieval.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6208" y="1737360"/>
            <a:ext cx="5321808" cy="4096512"/>
          </a:xfrm>
          <a:prstGeom prst="roundRect">
            <a:avLst/>
          </a:prstGeom>
          <a:solidFill>
            <a:srgbClr val="263B5B"/>
          </a:solidFill>
          <a:ln>
            <a:solidFill>
              <a:srgbClr val="394C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55664" y="1965960"/>
            <a:ext cx="4800600" cy="34747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700" b="1">
                <a:solidFill>
                  <a:srgbClr val="22A99B"/>
                </a:solidFill>
                <a:latin typeface="Aptos"/>
              </a:rPr>
              <a:t>WHAT IT DOES—AND DOESN'T—SOLVE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55664" y="2450592"/>
            <a:ext cx="4828032" cy="30632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t>•  RAG can improve access to current or private documents.</a:t>
            </a:r>
          </a:p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t>•  Retrieval can return irrelevant, stale, or incomplete material.</a:t>
            </a:r>
          </a:p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t>•  Citations help only if they point to evidence that supports the claim.</a:t>
            </a:r>
          </a:p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t>•  RAG does not retrain the model or guarantee truth.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5961888"/>
            <a:ext cx="1234440" cy="20116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900" b="1">
                <a:solidFill>
                  <a:srgbClr val="F5B742"/>
                </a:solidFill>
                <a:latin typeface="Aptos"/>
              </a:rPr>
              <a:t>REALITY CHECK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5907024"/>
            <a:ext cx="9646920" cy="32004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200" b="0">
                <a:solidFill>
                  <a:srgbClr val="FAFCFF"/>
                </a:solidFill>
                <a:latin typeface="Aptos"/>
              </a:rPr>
              <a:t>Check the source, not just the answer.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6510528"/>
            <a:ext cx="9875520" cy="16459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800" b="0">
                <a:solidFill>
                  <a:srgbClr val="AABBCF"/>
                </a:solidFill>
                <a:latin typeface="Aptos"/>
              </a:rPr>
              <a:t>AI BUZZWORDS, DECODED • PRACTICAL GUIDE FOR TECHNICAL TEAMS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r"/>
            <a:r>
              <a:rPr sz="900" b="1">
                <a:solidFill>
                  <a:srgbClr val="AABBCF"/>
                </a:solidFill>
                <a:latin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41864511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2B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789920" cy="53035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2700" b="1">
                <a:solidFill>
                  <a:srgbClr val="FAFCFF"/>
                </a:solidFill>
                <a:latin typeface="Aptos"/>
              </a:rPr>
              <a:t>Prompting, fine-tuning, and model choice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78408"/>
            <a:ext cx="777240" cy="54864"/>
          </a:xfrm>
          <a:prstGeom prst="rect">
            <a:avLst/>
          </a:prstGeom>
          <a:solidFill>
            <a:srgbClr val="22A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326880" y="438912"/>
            <a:ext cx="2148840" cy="219456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r"/>
            <a:r>
              <a:rPr sz="900" b="1">
                <a:solidFill>
                  <a:srgbClr val="22A99B"/>
                </a:solidFill>
                <a:latin typeface="Aptos"/>
              </a:rPr>
              <a:t>BUILDING BLOCKS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115568"/>
            <a:ext cx="10972800" cy="38404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300" b="0">
                <a:solidFill>
                  <a:srgbClr val="AABBCF"/>
                </a:solidFill>
                <a:latin typeface="Aptos"/>
              </a:rPr>
              <a:t>Different techniques change different parts of the system.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737360"/>
            <a:ext cx="5321808" cy="4096512"/>
          </a:xfrm>
          <a:prstGeom prst="roundRect">
            <a:avLst/>
          </a:prstGeom>
          <a:solidFill>
            <a:srgbClr val="263B5B"/>
          </a:solidFill>
          <a:ln>
            <a:solidFill>
              <a:srgbClr val="394C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1965960"/>
            <a:ext cx="4800600" cy="34747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700" b="1">
                <a:solidFill>
                  <a:srgbClr val="3670BE"/>
                </a:solidFill>
                <a:latin typeface="Aptos"/>
              </a:rPr>
              <a:t>THE TERMS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450592"/>
            <a:ext cx="4828032" cy="30632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t>•  Prompt engineering: structuring instructions and context.</a:t>
            </a:r>
          </a:p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t>•  System prompt: high-level behavior instructions for an application.</a:t>
            </a:r>
          </a:p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t>•  Few-shot prompting: showing examples in the prompt.</a:t>
            </a:r>
          </a:p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t>•  Fine-tuning: further training a model on task-specific examples.</a:t>
            </a:r>
          </a:p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t>•  Distillation: transferring behavior from a larger model to a smaller one.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6208" y="1737360"/>
            <a:ext cx="5321808" cy="4096512"/>
          </a:xfrm>
          <a:prstGeom prst="roundRect">
            <a:avLst/>
          </a:prstGeom>
          <a:solidFill>
            <a:srgbClr val="263B5B"/>
          </a:solidFill>
          <a:ln>
            <a:solidFill>
              <a:srgbClr val="394C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55664" y="1965960"/>
            <a:ext cx="4800600" cy="34747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700" b="1">
                <a:solidFill>
                  <a:srgbClr val="22A99B"/>
                </a:solidFill>
                <a:latin typeface="Aptos"/>
              </a:rPr>
              <a:t>WHEN EACH MAY HELP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55664" y="2450592"/>
            <a:ext cx="4828032" cy="30632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t>•  Prompting is often the fastest way to improve a workflow.</a:t>
            </a:r>
          </a:p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t>•  Few-shot examples can clarify desired format or style.</a:t>
            </a:r>
          </a:p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t>•  Fine-tuning may help specialized behavior—not live facts.</a:t>
            </a:r>
          </a:p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t>•  Smaller models may reduce cost and latency for bounded tasks.</a:t>
            </a:r>
          </a:p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t>•  Test alternatives against representative tasks, not cherry-picked demos.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5961888"/>
            <a:ext cx="1234440" cy="20116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900" b="1">
                <a:solidFill>
                  <a:srgbClr val="F5B742"/>
                </a:solidFill>
                <a:latin typeface="Aptos"/>
              </a:rPr>
              <a:t>REALITY CHECK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5907024"/>
            <a:ext cx="9646920" cy="32004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200" b="0">
                <a:solidFill>
                  <a:srgbClr val="FAFCFF"/>
                </a:solidFill>
                <a:latin typeface="Aptos"/>
              </a:rPr>
              <a:t>Do not fine-tune to solve a problem that better data or instructions would fix.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6510528"/>
            <a:ext cx="9875520" cy="16459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800" b="0">
                <a:solidFill>
                  <a:srgbClr val="AABBCF"/>
                </a:solidFill>
                <a:latin typeface="Aptos"/>
              </a:rPr>
              <a:t>AI BUZZWORDS, DECODED • PRACTICAL GUIDE FOR TECHNICAL TEAMS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r"/>
            <a:r>
              <a:rPr sz="900" b="1">
                <a:solidFill>
                  <a:srgbClr val="AABBCF"/>
                </a:solidFill>
                <a:latin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5847826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2B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789920" cy="53035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2700" b="1">
                <a:solidFill>
                  <a:srgbClr val="FAFCFF"/>
                </a:solidFill>
                <a:latin typeface="Aptos"/>
              </a:rPr>
              <a:t>AI agents and agentic AI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78408"/>
            <a:ext cx="777240" cy="54864"/>
          </a:xfrm>
          <a:prstGeom prst="rect">
            <a:avLst/>
          </a:prstGeom>
          <a:solidFill>
            <a:srgbClr val="22A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326880" y="438912"/>
            <a:ext cx="2148840" cy="219456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r"/>
            <a:r>
              <a:rPr sz="900" b="1">
                <a:solidFill>
                  <a:srgbClr val="22A99B"/>
                </a:solidFill>
                <a:latin typeface="Aptos"/>
              </a:rPr>
              <a:t>AUTOMATION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115568"/>
            <a:ext cx="10972800" cy="38404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300" b="0">
                <a:solidFill>
                  <a:srgbClr val="AABBCF"/>
                </a:solidFill>
                <a:latin typeface="Aptos"/>
              </a:rPr>
              <a:t>“Agent” is one of the most overused terms in AI marketing.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737360"/>
            <a:ext cx="5321808" cy="4096512"/>
          </a:xfrm>
          <a:prstGeom prst="roundRect">
            <a:avLst/>
          </a:prstGeom>
          <a:solidFill>
            <a:srgbClr val="263B5B"/>
          </a:solidFill>
          <a:ln>
            <a:solidFill>
              <a:srgbClr val="394C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1965960"/>
            <a:ext cx="4800600" cy="34747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700" b="1">
                <a:solidFill>
                  <a:srgbClr val="3670BE"/>
                </a:solidFill>
                <a:latin typeface="Aptos"/>
              </a:rPr>
              <a:t>THE TERMS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450592"/>
            <a:ext cx="4828032" cy="30632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t>•  AI agent: a system that uses a model to pursue a goal, often with tools.</a:t>
            </a:r>
          </a:p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t>•  Agentic workflow: multi-step process where the system selects actions dynamically.</a:t>
            </a:r>
          </a:p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t>•  Tool/function calling: model requests an application to run a defined operation.</a:t>
            </a:r>
          </a:p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t>•  Planning: breaking a goal into steps or selecting the next action.</a:t>
            </a:r>
          </a:p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t>•  Multi-agent: multiple agents or roles coordinate on a task.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6208" y="1737360"/>
            <a:ext cx="5321808" cy="4096512"/>
          </a:xfrm>
          <a:prstGeom prst="roundRect">
            <a:avLst/>
          </a:prstGeom>
          <a:solidFill>
            <a:srgbClr val="263B5B"/>
          </a:solidFill>
          <a:ln>
            <a:solidFill>
              <a:srgbClr val="394C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55664" y="1965960"/>
            <a:ext cx="4800600" cy="34747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700" b="1">
                <a:solidFill>
                  <a:srgbClr val="22A99B"/>
                </a:solidFill>
                <a:latin typeface="Aptos"/>
              </a:rPr>
              <a:t>REALITY CHECK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55664" y="2450592"/>
            <a:ext cx="4828032" cy="30632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t>•  An agent is not automatically independent, reliable, or safe.</a:t>
            </a:r>
          </a:p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t>•  Tools determine what it can actually read, change, or execute.</a:t>
            </a:r>
          </a:p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t>•  More steps create more opportunities for errors and drift.</a:t>
            </a:r>
          </a:p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t>•  Use bounded permissions, approval gates, timeouts, and audit logs.</a:t>
            </a:r>
          </a:p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t>•  Start with a workflow that has a clear success test and rollback.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5961888"/>
            <a:ext cx="1234440" cy="20116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900" b="1">
                <a:solidFill>
                  <a:srgbClr val="F5B742"/>
                </a:solidFill>
                <a:latin typeface="Aptos"/>
              </a:rPr>
              <a:t>REALITY CHECK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5907024"/>
            <a:ext cx="9646920" cy="32004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200" b="0">
                <a:solidFill>
                  <a:srgbClr val="FAFCFF"/>
                </a:solidFill>
                <a:latin typeface="Aptos"/>
              </a:rPr>
              <a:t>An agent is an automation design pattern—not a digital employee.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6510528"/>
            <a:ext cx="9875520" cy="16459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800" b="0">
                <a:solidFill>
                  <a:srgbClr val="AABBCF"/>
                </a:solidFill>
                <a:latin typeface="Aptos"/>
              </a:rPr>
              <a:t>AI BUZZWORDS, DECODED • PRACTICAL GUIDE FOR TECHNICAL TEAMS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r"/>
            <a:r>
              <a:rPr sz="900" b="1">
                <a:solidFill>
                  <a:srgbClr val="AABBCF"/>
                </a:solidFill>
                <a:latin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6066623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2B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789920" cy="53035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2700" b="1">
                <a:solidFill>
                  <a:srgbClr val="FAFCFF"/>
                </a:solidFill>
                <a:latin typeface="Aptos"/>
              </a:rPr>
              <a:t>Copilots, assistants, chatbots, and automation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78408"/>
            <a:ext cx="777240" cy="54864"/>
          </a:xfrm>
          <a:prstGeom prst="rect">
            <a:avLst/>
          </a:prstGeom>
          <a:solidFill>
            <a:srgbClr val="22A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326880" y="438912"/>
            <a:ext cx="2148840" cy="219456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r"/>
            <a:r>
              <a:rPr sz="900" b="1">
                <a:solidFill>
                  <a:srgbClr val="22A99B"/>
                </a:solidFill>
                <a:latin typeface="Aptos"/>
              </a:rPr>
              <a:t>PRODUCT LANGUAGE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115568"/>
            <a:ext cx="10972800" cy="38404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300" b="0">
                <a:solidFill>
                  <a:srgbClr val="AABBCF"/>
                </a:solidFill>
                <a:latin typeface="Aptos"/>
              </a:rPr>
              <a:t>These labels describe user experience more than a specific architecture.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737360"/>
            <a:ext cx="5321808" cy="4096512"/>
          </a:xfrm>
          <a:prstGeom prst="roundRect">
            <a:avLst/>
          </a:prstGeom>
          <a:solidFill>
            <a:srgbClr val="263B5B"/>
          </a:solidFill>
          <a:ln>
            <a:solidFill>
              <a:srgbClr val="394C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1965960"/>
            <a:ext cx="4800600" cy="34747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700" b="1">
                <a:solidFill>
                  <a:srgbClr val="3670BE"/>
                </a:solidFill>
                <a:latin typeface="Aptos"/>
              </a:rPr>
              <a:t>COMMON LABELS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450592"/>
            <a:ext cx="4828032" cy="30632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t>•  Chatbot: conversational interface; may be scripted or model-powered.</a:t>
            </a:r>
          </a:p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t>•  AI assistant: helps answer, draft, summarize, or perform tasks.</a:t>
            </a:r>
          </a:p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t>•  Copilot: assists a person inside a workflow, often with contextual access.</a:t>
            </a:r>
          </a:p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t>•  Autopilot: implies actions can happen with less human intervention.</a:t>
            </a:r>
          </a:p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t>•  Human-in-the-loop: a person reviews or approves part of the process.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6208" y="1737360"/>
            <a:ext cx="5321808" cy="4096512"/>
          </a:xfrm>
          <a:prstGeom prst="roundRect">
            <a:avLst/>
          </a:prstGeom>
          <a:solidFill>
            <a:srgbClr val="263B5B"/>
          </a:solidFill>
          <a:ln>
            <a:solidFill>
              <a:srgbClr val="394C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55664" y="1965960"/>
            <a:ext cx="4800600" cy="34747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700" b="1">
                <a:solidFill>
                  <a:srgbClr val="22A99B"/>
                </a:solidFill>
                <a:latin typeface="Aptos"/>
              </a:rPr>
              <a:t>QUESTIONS THAT MATTER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55664" y="2450592"/>
            <a:ext cx="4828032" cy="30632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t>•  Does it only suggest, or can it execute changes?</a:t>
            </a:r>
          </a:p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t>•  What data can it see, and under whose identity?</a:t>
            </a:r>
          </a:p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t>•  Where is human approval required?</a:t>
            </a:r>
          </a:p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t>•  Can users inspect what it did and reverse the action?</a:t>
            </a:r>
          </a:p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t>•  Is it useful inside the tools the team already uses?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5961888"/>
            <a:ext cx="1234440" cy="20116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900" b="1">
                <a:solidFill>
                  <a:srgbClr val="F5B742"/>
                </a:solidFill>
                <a:latin typeface="Aptos"/>
              </a:rPr>
              <a:t>REALITY CHECK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5907024"/>
            <a:ext cx="9646920" cy="32004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200" b="0">
                <a:solidFill>
                  <a:srgbClr val="FAFCFF"/>
                </a:solidFill>
                <a:latin typeface="Aptos"/>
              </a:rPr>
              <a:t>Ignore the label; map the permissions and actual workflow.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6510528"/>
            <a:ext cx="9875520" cy="16459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800" b="0">
                <a:solidFill>
                  <a:srgbClr val="AABBCF"/>
                </a:solidFill>
                <a:latin typeface="Aptos"/>
              </a:rPr>
              <a:t>AI BUZZWORDS, DECODED • PRACTICAL GUIDE FOR TECHNICAL TEAMS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r"/>
            <a:r>
              <a:rPr sz="900" b="1">
                <a:solidFill>
                  <a:srgbClr val="AABBCF"/>
                </a:solidFill>
                <a:latin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0388734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2B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789920" cy="53035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2700" b="1">
                <a:solidFill>
                  <a:srgbClr val="FAFCFF"/>
                </a:solidFill>
                <a:latin typeface="Aptos"/>
              </a:rPr>
              <a:t>AIOps, predictive operations, and “self-healing”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78408"/>
            <a:ext cx="777240" cy="54864"/>
          </a:xfrm>
          <a:prstGeom prst="rect">
            <a:avLst/>
          </a:prstGeom>
          <a:solidFill>
            <a:srgbClr val="22A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326880" y="438912"/>
            <a:ext cx="2148840" cy="219456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r"/>
            <a:r>
              <a:rPr sz="900" b="1">
                <a:solidFill>
                  <a:srgbClr val="22A99B"/>
                </a:solidFill>
                <a:latin typeface="Aptos"/>
              </a:rPr>
              <a:t>INFRASTRUCTURE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115568"/>
            <a:ext cx="10972800" cy="38404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300" b="0">
                <a:solidFill>
                  <a:srgbClr val="AABBCF"/>
                </a:solidFill>
                <a:latin typeface="Aptos"/>
              </a:rPr>
              <a:t>AI can help detect patterns—but autonomous remediation needs guardrails.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737360"/>
            <a:ext cx="5321808" cy="4096512"/>
          </a:xfrm>
          <a:prstGeom prst="roundRect">
            <a:avLst/>
          </a:prstGeom>
          <a:solidFill>
            <a:srgbClr val="263B5B"/>
          </a:solidFill>
          <a:ln>
            <a:solidFill>
              <a:srgbClr val="394C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1965960"/>
            <a:ext cx="4800600" cy="34747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700" b="1">
                <a:solidFill>
                  <a:srgbClr val="3670BE"/>
                </a:solidFill>
                <a:latin typeface="Aptos"/>
              </a:rPr>
              <a:t>THE TERMS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450592"/>
            <a:ext cx="4828032" cy="30632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t>•  AIOps: applying analytics/ML/AI to IT operations data.</a:t>
            </a:r>
          </a:p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t>•  Anomaly detection: identifying behavior that differs from a baseline.</a:t>
            </a:r>
          </a:p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t>•  Predictive analytics: estimating future events or conditions from data.</a:t>
            </a:r>
          </a:p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t>•  Root-cause analysis: narrowing possible causes of an incident.</a:t>
            </a:r>
          </a:p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t>•  Self-healing: detecting an issue and triggering corrective action.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6208" y="1737360"/>
            <a:ext cx="5321808" cy="4096512"/>
          </a:xfrm>
          <a:prstGeom prst="roundRect">
            <a:avLst/>
          </a:prstGeom>
          <a:solidFill>
            <a:srgbClr val="263B5B"/>
          </a:solidFill>
          <a:ln>
            <a:solidFill>
              <a:srgbClr val="394C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55664" y="1965960"/>
            <a:ext cx="4800600" cy="34747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700" b="1">
                <a:solidFill>
                  <a:srgbClr val="22A99B"/>
                </a:solidFill>
                <a:latin typeface="Aptos"/>
              </a:rPr>
              <a:t>WHAT TO VALIDATE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55664" y="2450592"/>
            <a:ext cx="4828032" cy="30632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t>•  Does it reduce alert noise or just create another dashboard?</a:t>
            </a:r>
          </a:p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t>•  Are predictions calibrated and early enough to act on?</a:t>
            </a:r>
          </a:p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t>•  Can it explain evidence behind a suggested cause?</a:t>
            </a:r>
          </a:p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t>•  Are remediations tested, scoped, and reversible?</a:t>
            </a:r>
          </a:p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t>•  Measure false positives, missed incidents, and time-to-resolution.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5961888"/>
            <a:ext cx="1234440" cy="20116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900" b="1">
                <a:solidFill>
                  <a:srgbClr val="F5B742"/>
                </a:solidFill>
                <a:latin typeface="Aptos"/>
              </a:rPr>
              <a:t>REALITY CHECK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5907024"/>
            <a:ext cx="9646920" cy="32004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200" b="0">
                <a:solidFill>
                  <a:srgbClr val="FAFCFF"/>
                </a:solidFill>
                <a:latin typeface="Aptos"/>
              </a:rPr>
              <a:t>“Self-healing” should mean a defined recovery path, not unchecked change.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6510528"/>
            <a:ext cx="9875520" cy="16459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800" b="0">
                <a:solidFill>
                  <a:srgbClr val="AABBCF"/>
                </a:solidFill>
                <a:latin typeface="Aptos"/>
              </a:rPr>
              <a:t>AI BUZZWORDS, DECODED • PRACTICAL GUIDE FOR TECHNICAL TEAMS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r"/>
            <a:r>
              <a:rPr sz="900" b="1">
                <a:solidFill>
                  <a:srgbClr val="AABBCF"/>
                </a:solidFill>
                <a:latin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2231136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2B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789920" cy="53035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2700" b="1">
                <a:solidFill>
                  <a:srgbClr val="FAFCFF"/>
                </a:solidFill>
                <a:latin typeface="Aptos"/>
              </a:rPr>
              <a:t>Data, vector search, and synthetic data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78408"/>
            <a:ext cx="777240" cy="54864"/>
          </a:xfrm>
          <a:prstGeom prst="rect">
            <a:avLst/>
          </a:prstGeom>
          <a:solidFill>
            <a:srgbClr val="22A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326880" y="438912"/>
            <a:ext cx="2148840" cy="219456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r"/>
            <a:r>
              <a:rPr sz="900" b="1">
                <a:solidFill>
                  <a:srgbClr val="22A99B"/>
                </a:solidFill>
                <a:latin typeface="Aptos"/>
              </a:rPr>
              <a:t>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115568"/>
            <a:ext cx="10972800" cy="38404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300" b="0">
                <a:solidFill>
                  <a:srgbClr val="AABBCF"/>
                </a:solidFill>
                <a:latin typeface="Aptos"/>
              </a:rPr>
              <a:t>The quality and permissions of data often matter as much as the model.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737360"/>
            <a:ext cx="5321808" cy="4096512"/>
          </a:xfrm>
          <a:prstGeom prst="roundRect">
            <a:avLst/>
          </a:prstGeom>
          <a:solidFill>
            <a:srgbClr val="263B5B"/>
          </a:solidFill>
          <a:ln>
            <a:solidFill>
              <a:srgbClr val="394C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1965960"/>
            <a:ext cx="4800600" cy="34747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700" b="1">
                <a:solidFill>
                  <a:srgbClr val="3670BE"/>
                </a:solidFill>
                <a:latin typeface="Aptos"/>
              </a:rPr>
              <a:t>THE TERMS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450592"/>
            <a:ext cx="4828032" cy="30632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t>•  Data pipeline: moves and transforms data for downstream use.</a:t>
            </a:r>
          </a:p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t>•  Data lake / warehouse: stores data for different processing and analytics needs.</a:t>
            </a:r>
          </a:p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t>•  Synthetic data: artificially generated data used for testing or training.</a:t>
            </a:r>
          </a:p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t>•  Knowledge graph: represents entities and relationships explicitly.</a:t>
            </a:r>
          </a:p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t>•  Semantic search: searches by meaning or similarity, not only exact keywords.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6208" y="1737360"/>
            <a:ext cx="5321808" cy="4096512"/>
          </a:xfrm>
          <a:prstGeom prst="roundRect">
            <a:avLst/>
          </a:prstGeom>
          <a:solidFill>
            <a:srgbClr val="263B5B"/>
          </a:solidFill>
          <a:ln>
            <a:solidFill>
              <a:srgbClr val="394C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55664" y="1965960"/>
            <a:ext cx="4800600" cy="34747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700" b="1">
                <a:solidFill>
                  <a:srgbClr val="22A99B"/>
                </a:solidFill>
                <a:latin typeface="Aptos"/>
              </a:rPr>
              <a:t>WATCH OUT FOR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55664" y="2450592"/>
            <a:ext cx="4828032" cy="30632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t>•  Stale, duplicated, or poorly labeled data.</a:t>
            </a:r>
          </a:p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t>•  Sensitive data copied into embeddings, logs, or prompts.</a:t>
            </a:r>
          </a:p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t>•  Synthetic data that repeats bias or misses real-world edge cases.</a:t>
            </a:r>
          </a:p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t>•  Permissions that are lost when documents are indexed.</a:t>
            </a:r>
          </a:p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t>•  A polished search experience over incomplete source material.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5961888"/>
            <a:ext cx="1234440" cy="20116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900" b="1">
                <a:solidFill>
                  <a:srgbClr val="F5B742"/>
                </a:solidFill>
                <a:latin typeface="Aptos"/>
              </a:rPr>
              <a:t>REALITY CHECK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5907024"/>
            <a:ext cx="9646920" cy="32004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200" b="0">
                <a:solidFill>
                  <a:srgbClr val="FAFCFF"/>
                </a:solidFill>
                <a:latin typeface="Aptos"/>
              </a:rPr>
              <a:t>If the data is wrong, AI can make the wrong answer easier to find.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6510528"/>
            <a:ext cx="9875520" cy="16459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800" b="0">
                <a:solidFill>
                  <a:srgbClr val="AABBCF"/>
                </a:solidFill>
                <a:latin typeface="Aptos"/>
              </a:rPr>
              <a:t>AI BUZZWORDS, DECODED • PRACTICAL GUIDE FOR TECHNICAL TEAMS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r"/>
            <a:r>
              <a:rPr sz="900" b="1">
                <a:solidFill>
                  <a:srgbClr val="AABBCF"/>
                </a:solidFill>
                <a:latin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9597481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2B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789920" cy="53035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2700" b="1">
                <a:solidFill>
                  <a:srgbClr val="FAFCFF"/>
                </a:solidFill>
                <a:latin typeface="Aptos"/>
              </a:rPr>
              <a:t>Responsible AI, guardrails, and red teaming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78408"/>
            <a:ext cx="777240" cy="54864"/>
          </a:xfrm>
          <a:prstGeom prst="rect">
            <a:avLst/>
          </a:prstGeom>
          <a:solidFill>
            <a:srgbClr val="22A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326880" y="438912"/>
            <a:ext cx="2148840" cy="219456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r"/>
            <a:r>
              <a:rPr sz="900" b="1">
                <a:solidFill>
                  <a:srgbClr val="22A99B"/>
                </a:solidFill>
                <a:latin typeface="Aptos"/>
              </a:rPr>
              <a:t>RISK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115568"/>
            <a:ext cx="10972800" cy="38404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300" b="0">
                <a:solidFill>
                  <a:srgbClr val="AABBCF"/>
                </a:solidFill>
                <a:latin typeface="Aptos"/>
              </a:rPr>
              <a:t>Responsible use is an engineering discipline, not a checkbox.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737360"/>
            <a:ext cx="5321808" cy="4096512"/>
          </a:xfrm>
          <a:prstGeom prst="roundRect">
            <a:avLst/>
          </a:prstGeom>
          <a:solidFill>
            <a:srgbClr val="263B5B"/>
          </a:solidFill>
          <a:ln>
            <a:solidFill>
              <a:srgbClr val="394C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1965960"/>
            <a:ext cx="4800600" cy="34747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700" b="1">
                <a:solidFill>
                  <a:srgbClr val="3670BE"/>
                </a:solidFill>
                <a:latin typeface="Aptos"/>
              </a:rPr>
              <a:t>THE TERMS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450592"/>
            <a:ext cx="4828032" cy="30632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t>•  Guardrails: controls that constrain inputs, outputs, or actions.</a:t>
            </a:r>
          </a:p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t>•  Red teaming: deliberately probing a system for weaknesses.</a:t>
            </a:r>
          </a:p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t>•  Prompt injection: malicious instructions embedded in input or retrieved content.</a:t>
            </a:r>
          </a:p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t>•  PII: personally identifiable information.</a:t>
            </a:r>
          </a:p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t>•  AI governance: policies, accountability, risk management, and oversight.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6208" y="1737360"/>
            <a:ext cx="5321808" cy="4096512"/>
          </a:xfrm>
          <a:prstGeom prst="roundRect">
            <a:avLst/>
          </a:prstGeom>
          <a:solidFill>
            <a:srgbClr val="263B5B"/>
          </a:solidFill>
          <a:ln>
            <a:solidFill>
              <a:srgbClr val="394C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55664" y="1965960"/>
            <a:ext cx="4800600" cy="34747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700" b="1">
                <a:solidFill>
                  <a:srgbClr val="22A99B"/>
                </a:solidFill>
                <a:latin typeface="Aptos"/>
              </a:rPr>
              <a:t>CONTROLS TO EXPECT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55664" y="2450592"/>
            <a:ext cx="4828032" cy="30632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t>•  Least-privilege access and separation of duties.</a:t>
            </a:r>
          </a:p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t>•  Data classification, retention rules, and vendor-use clarity.</a:t>
            </a:r>
          </a:p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t>•  Evaluation for bias, unsafe output, and prompt injection.</a:t>
            </a:r>
          </a:p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t>•  Logging that supports audit without retaining unnecessary secrets.</a:t>
            </a:r>
          </a:p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t>•  A way to disable the feature and fall back to a known process.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5961888"/>
            <a:ext cx="1234440" cy="20116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900" b="1">
                <a:solidFill>
                  <a:srgbClr val="F5B742"/>
                </a:solidFill>
                <a:latin typeface="Aptos"/>
              </a:rPr>
              <a:t>REALITY CHECK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5907024"/>
            <a:ext cx="9646920" cy="32004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200" b="0">
                <a:solidFill>
                  <a:srgbClr val="FAFCFF"/>
                </a:solidFill>
                <a:latin typeface="Aptos"/>
              </a:rPr>
              <a:t>Treat model output and retrieved content as untrusted input.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6510528"/>
            <a:ext cx="9875520" cy="16459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800" b="0">
                <a:solidFill>
                  <a:srgbClr val="AABBCF"/>
                </a:solidFill>
                <a:latin typeface="Aptos"/>
              </a:rPr>
              <a:t>AI BUZZWORDS, DECODED • PRACTICAL GUIDE FOR TECHNICAL TEAMS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r"/>
            <a:r>
              <a:rPr sz="900" b="1">
                <a:solidFill>
                  <a:srgbClr val="AABBCF"/>
                </a:solidFill>
                <a:latin typeface="Apto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38426157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2B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789920" cy="53035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2700" b="1">
                <a:solidFill>
                  <a:srgbClr val="FAFCFF"/>
                </a:solidFill>
                <a:latin typeface="Aptos"/>
              </a:rPr>
              <a:t>AI security and enterprise deployment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78408"/>
            <a:ext cx="777240" cy="54864"/>
          </a:xfrm>
          <a:prstGeom prst="rect">
            <a:avLst/>
          </a:prstGeom>
          <a:solidFill>
            <a:srgbClr val="22A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326880" y="438912"/>
            <a:ext cx="2148840" cy="219456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r"/>
            <a:r>
              <a:rPr sz="900" b="1">
                <a:solidFill>
                  <a:srgbClr val="22A99B"/>
                </a:solidFill>
                <a:latin typeface="Aptos"/>
              </a:rPr>
              <a:t>RISK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115568"/>
            <a:ext cx="10972800" cy="38404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300" b="0">
                <a:solidFill>
                  <a:srgbClr val="AABBCF"/>
                </a:solidFill>
                <a:latin typeface="Aptos"/>
              </a:rPr>
              <a:t>AI adds new attack surfaces; it does not replace security fundamentals.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737360"/>
            <a:ext cx="5321808" cy="4096512"/>
          </a:xfrm>
          <a:prstGeom prst="roundRect">
            <a:avLst/>
          </a:prstGeom>
          <a:solidFill>
            <a:srgbClr val="263B5B"/>
          </a:solidFill>
          <a:ln>
            <a:solidFill>
              <a:srgbClr val="394C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1965960"/>
            <a:ext cx="4800600" cy="34747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700" b="1">
                <a:solidFill>
                  <a:srgbClr val="3670BE"/>
                </a:solidFill>
                <a:latin typeface="Aptos"/>
              </a:rPr>
              <a:t>TERMS IN CONTEXT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450592"/>
            <a:ext cx="4828032" cy="30632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t>•  Model security: protecting models, weights, APIs, and serving infrastructure.</a:t>
            </a:r>
          </a:p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t>•  Data leakage: sensitive information exposed through prompts, outputs, or logs.</a:t>
            </a:r>
          </a:p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t>•  Jailbreak: attempt to bypass intended restrictions.</a:t>
            </a:r>
          </a:p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t>•  On-prem / private AI: deployment or controls designed for a chosen boundary.</a:t>
            </a:r>
          </a:p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t>•  Sovereign AI: broad term for control over data, infrastructure, and jurisdiction.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6208" y="1737360"/>
            <a:ext cx="5321808" cy="4096512"/>
          </a:xfrm>
          <a:prstGeom prst="roundRect">
            <a:avLst/>
          </a:prstGeom>
          <a:solidFill>
            <a:srgbClr val="263B5B"/>
          </a:solidFill>
          <a:ln>
            <a:solidFill>
              <a:srgbClr val="394C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55664" y="1965960"/>
            <a:ext cx="4800600" cy="34747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700" b="1">
                <a:solidFill>
                  <a:srgbClr val="22A99B"/>
                </a:solidFill>
                <a:latin typeface="Aptos"/>
              </a:rPr>
              <a:t>DEPLOYMENT QUESTIONS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55664" y="2450592"/>
            <a:ext cx="4828032" cy="30632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t>•  Where do prompts, files, telemetry, and outputs travel?</a:t>
            </a:r>
          </a:p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t>•  Are inputs used to train or improve a provider's models?</a:t>
            </a:r>
          </a:p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t>•  What identity and network controls protect model endpoints?</a:t>
            </a:r>
          </a:p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t>•  How are model versions, dependencies, and vulnerabilities managed?</a:t>
            </a:r>
          </a:p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t>•  What does “private” mean contractually and technically?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5961888"/>
            <a:ext cx="1234440" cy="20116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900" b="1">
                <a:solidFill>
                  <a:srgbClr val="F5B742"/>
                </a:solidFill>
                <a:latin typeface="Aptos"/>
              </a:rPr>
              <a:t>REALITY CHECK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5907024"/>
            <a:ext cx="9646920" cy="32004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200" b="0">
                <a:solidFill>
                  <a:srgbClr val="FAFCFF"/>
                </a:solidFill>
                <a:latin typeface="Aptos"/>
              </a:rPr>
              <a:t>Ask for a data-flow diagram and security boundaries—not a privacy slogan.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6510528"/>
            <a:ext cx="9875520" cy="16459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800" b="0">
                <a:solidFill>
                  <a:srgbClr val="AABBCF"/>
                </a:solidFill>
                <a:latin typeface="Aptos"/>
              </a:rPr>
              <a:t>AI BUZZWORDS, DECODED • PRACTICAL GUIDE FOR TECHNICAL TEAMS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r"/>
            <a:r>
              <a:rPr sz="900" b="1">
                <a:solidFill>
                  <a:srgbClr val="AABBCF"/>
                </a:solidFill>
                <a:latin typeface="Aptos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65933235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2B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789920" cy="53035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2700" b="1">
                <a:solidFill>
                  <a:srgbClr val="FAFCFF"/>
                </a:solidFill>
                <a:latin typeface="Aptos"/>
              </a:rPr>
              <a:t>Latency, throughput, inference cost, and efficiency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78408"/>
            <a:ext cx="777240" cy="54864"/>
          </a:xfrm>
          <a:prstGeom prst="rect">
            <a:avLst/>
          </a:prstGeom>
          <a:solidFill>
            <a:srgbClr val="22A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326880" y="438912"/>
            <a:ext cx="2148840" cy="219456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r"/>
            <a:r>
              <a:rPr sz="900" b="1">
                <a:solidFill>
                  <a:srgbClr val="22A99B"/>
                </a:solidFill>
                <a:latin typeface="Aptos"/>
              </a:rPr>
              <a:t>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115568"/>
            <a:ext cx="10972800" cy="38404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300" b="0">
                <a:solidFill>
                  <a:srgbClr val="AABBCF"/>
                </a:solidFill>
                <a:latin typeface="Aptos"/>
              </a:rPr>
              <a:t>A model that works in a demo may not fit production budgets or service levels.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737360"/>
            <a:ext cx="5321808" cy="4096512"/>
          </a:xfrm>
          <a:prstGeom prst="roundRect">
            <a:avLst/>
          </a:prstGeom>
          <a:solidFill>
            <a:srgbClr val="263B5B"/>
          </a:solidFill>
          <a:ln>
            <a:solidFill>
              <a:srgbClr val="394C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1965960"/>
            <a:ext cx="4800600" cy="34747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700" b="1">
                <a:solidFill>
                  <a:srgbClr val="3670BE"/>
                </a:solidFill>
                <a:latin typeface="Aptos"/>
              </a:rPr>
              <a:t>THE TERMS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450592"/>
            <a:ext cx="4828032" cy="30632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t>•  Latency: time between request and response.</a:t>
            </a:r>
          </a:p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t>•  Throughput: amount of work completed per unit of time.</a:t>
            </a:r>
          </a:p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t>•  Inference cost: cost of running the model for requests.</a:t>
            </a:r>
          </a:p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t>•  Quantization: reducing numerical precision to lower memory/compute needs.</a:t>
            </a:r>
          </a:p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t>•  Edge AI: running AI on or near the device where data is generated.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6208" y="1737360"/>
            <a:ext cx="5321808" cy="4096512"/>
          </a:xfrm>
          <a:prstGeom prst="roundRect">
            <a:avLst/>
          </a:prstGeom>
          <a:solidFill>
            <a:srgbClr val="263B5B"/>
          </a:solidFill>
          <a:ln>
            <a:solidFill>
              <a:srgbClr val="394C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55664" y="1965960"/>
            <a:ext cx="4800600" cy="34747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700" b="1">
                <a:solidFill>
                  <a:srgbClr val="22A99B"/>
                </a:solidFill>
                <a:latin typeface="Aptos"/>
              </a:rPr>
              <a:t>MEASURE IN YOUR CONTEXT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55664" y="2450592"/>
            <a:ext cx="4828032" cy="30632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t>•  Typical and worst-case response times.</a:t>
            </a:r>
          </a:p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t>•  Cost per useful task—not only cost per token.</a:t>
            </a:r>
          </a:p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t>•  Quality changes after quantization or model compression.</a:t>
            </a:r>
          </a:p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t>•  Peak load, concurrency, and capacity headroom.</a:t>
            </a:r>
          </a:p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t>•  Operational costs: GPUs, power, cooling, storage, and staff time.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5961888"/>
            <a:ext cx="1234440" cy="20116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900" b="1">
                <a:solidFill>
                  <a:srgbClr val="F5B742"/>
                </a:solidFill>
                <a:latin typeface="Aptos"/>
              </a:rPr>
              <a:t>REALITY CHECK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5907024"/>
            <a:ext cx="9646920" cy="32004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200" b="0">
                <a:solidFill>
                  <a:srgbClr val="FAFCFF"/>
                </a:solidFill>
                <a:latin typeface="Aptos"/>
              </a:rPr>
              <a:t>Benchmark end-to-end outcomes under realistic load.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6510528"/>
            <a:ext cx="9875520" cy="16459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800" b="0">
                <a:solidFill>
                  <a:srgbClr val="AABBCF"/>
                </a:solidFill>
                <a:latin typeface="Aptos"/>
              </a:rPr>
              <a:t>AI BUZZWORDS, DECODED • PRACTICAL GUIDE FOR TECHNICAL TEAMS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r"/>
            <a:r>
              <a:rPr sz="900" b="1">
                <a:solidFill>
                  <a:srgbClr val="AABBCF"/>
                </a:solidFill>
                <a:latin typeface="Aptos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393294815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9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100" b="1">
                <a:solidFill>
                  <a:srgbClr val="2DD4BF"/>
                </a:solidFill>
                <a:latin typeface="Aptos"/>
              </a:defRPr>
            </a:pPr>
            <a:r>
              <a:t>CONNECTIVITY • TOOLS •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1064240" cy="53035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2500" b="1">
                <a:solidFill>
                  <a:srgbClr val="F4F7FB"/>
                </a:solidFill>
                <a:latin typeface="Aptos"/>
              </a:defRPr>
            </a:pPr>
            <a:r>
              <a:t>MCP: a standard way for AI to connect to tools and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24712"/>
            <a:ext cx="1097280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200" b="0">
                <a:solidFill>
                  <a:srgbClr val="BECADA"/>
                </a:solidFill>
                <a:latin typeface="Aptos"/>
              </a:defRPr>
            </a:pPr>
            <a:r>
              <a:t>Model Context Protocol (MCP) defines a common way for AI applications to connect with external capabilities.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783080"/>
            <a:ext cx="3429000" cy="1298448"/>
          </a:xfrm>
          <a:prstGeom prst="roundRect">
            <a:avLst/>
          </a:prstGeom>
          <a:solidFill>
            <a:srgbClr val="192B44"/>
          </a:solidFill>
          <a:ln>
            <a:solidFill>
              <a:srgbClr val="192B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86384" y="1929384"/>
            <a:ext cx="3090672" cy="24688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100" b="1">
                <a:solidFill>
                  <a:srgbClr val="60A5FA"/>
                </a:solidFill>
                <a:latin typeface="Aptos"/>
              </a:defRPr>
            </a:pPr>
            <a:r>
              <a:t>AI APPLICATION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2258568"/>
            <a:ext cx="3090672" cy="6858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400" b="1">
                <a:solidFill>
                  <a:srgbClr val="F4F7FB"/>
                </a:solidFill>
                <a:latin typeface="Aptos"/>
              </a:defRPr>
            </a:pPr>
            <a:r>
              <a:t>The host experience</a:t>
            </a:r>
            <a:br/>
            <a:r>
              <a:t>An assistant, IDE, or AI-enabled admin tool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0832" y="1783080"/>
            <a:ext cx="3429000" cy="1298448"/>
          </a:xfrm>
          <a:prstGeom prst="roundRect">
            <a:avLst/>
          </a:prstGeom>
          <a:solidFill>
            <a:srgbClr val="192B44"/>
          </a:solidFill>
          <a:ln>
            <a:solidFill>
              <a:srgbClr val="192B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35424" y="1929384"/>
            <a:ext cx="3090672" cy="24688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100" b="1">
                <a:solidFill>
                  <a:srgbClr val="2DD4BF"/>
                </a:solidFill>
                <a:latin typeface="Aptos"/>
              </a:defRPr>
            </a:pPr>
            <a:r>
              <a:t>MCP CLIENT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35424" y="2258568"/>
            <a:ext cx="3090672" cy="6858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400" b="1">
                <a:solidFill>
                  <a:srgbClr val="F4F7FB"/>
                </a:solidFill>
                <a:latin typeface="Aptos"/>
              </a:defRPr>
            </a:pPr>
            <a:r>
              <a:t>Manages the connection</a:t>
            </a:r>
            <a:br/>
            <a:r>
              <a:t>Requests available tools, resources, and prompts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19872" y="1783080"/>
            <a:ext cx="3429000" cy="1298448"/>
          </a:xfrm>
          <a:prstGeom prst="roundRect">
            <a:avLst/>
          </a:prstGeom>
          <a:solidFill>
            <a:srgbClr val="192B44"/>
          </a:solidFill>
          <a:ln>
            <a:solidFill>
              <a:srgbClr val="192B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84464" y="1929384"/>
            <a:ext cx="3090672" cy="24688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100" b="1">
                <a:solidFill>
                  <a:srgbClr val="F5BE5A"/>
                </a:solidFill>
                <a:latin typeface="Aptos"/>
              </a:defRPr>
            </a:pPr>
            <a:r>
              <a:t>MCP SERVER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84464" y="2258568"/>
            <a:ext cx="3090672" cy="6858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400" b="1">
                <a:solidFill>
                  <a:srgbClr val="F4F7FB"/>
                </a:solidFill>
                <a:latin typeface="Aptos"/>
              </a:defRPr>
            </a:pPr>
            <a:r>
              <a:t>Exposes capabilities</a:t>
            </a:r>
            <a:br/>
            <a:r>
              <a:t>Connects to approved APIs, files, monitoring, or automation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096512" y="2267712"/>
            <a:ext cx="228600" cy="256032"/>
          </a:xfrm>
          <a:prstGeom prst="rightArrow">
            <a:avLst/>
          </a:prstGeom>
          <a:solidFill>
            <a:srgbClr val="2DD4BF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ight Arrow 14"/>
          <p:cNvSpPr/>
          <p:nvPr/>
        </p:nvSpPr>
        <p:spPr>
          <a:xfrm>
            <a:off x="7845552" y="2267712"/>
            <a:ext cx="228600" cy="256032"/>
          </a:xfrm>
          <a:prstGeom prst="rightArrow">
            <a:avLst/>
          </a:prstGeom>
          <a:solidFill>
            <a:srgbClr val="2DD4BF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21792" y="3346704"/>
            <a:ext cx="5413248" cy="2331720"/>
          </a:xfrm>
          <a:prstGeom prst="roundRect">
            <a:avLst/>
          </a:prstGeom>
          <a:solidFill>
            <a:srgbClr val="1E344E"/>
          </a:solidFill>
          <a:ln>
            <a:solidFill>
              <a:srgbClr val="1E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1248" y="3538728"/>
            <a:ext cx="4937760" cy="29260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200" b="1">
                <a:solidFill>
                  <a:srgbClr val="2DD4BF"/>
                </a:solidFill>
                <a:latin typeface="Aptos"/>
              </a:defRPr>
            </a:pPr>
            <a:r>
              <a:t>WHAT MCP CAN EXPOSE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" y="3931920"/>
            <a:ext cx="1024128" cy="24688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200" b="1">
                <a:solidFill>
                  <a:srgbClr val="F4F7FB"/>
                </a:solidFill>
                <a:latin typeface="Aptos"/>
              </a:defRPr>
            </a:pPr>
            <a:r>
              <a:t>Tools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3931920"/>
            <a:ext cx="3858768" cy="42062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050" b="0">
                <a:solidFill>
                  <a:srgbClr val="BECADA"/>
                </a:solidFill>
                <a:latin typeface="Aptos"/>
              </a:defRPr>
            </a:pPr>
            <a:r>
              <a:t>Actions a model can request, such as querying a system or starting a workflow.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" y="4462272"/>
            <a:ext cx="1024128" cy="24688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200" b="1">
                <a:solidFill>
                  <a:srgbClr val="F4F7FB"/>
                </a:solidFill>
                <a:latin typeface="Aptos"/>
              </a:defRPr>
            </a:pPr>
            <a:r>
              <a:t>Resources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4462272"/>
            <a:ext cx="3858768" cy="42062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050" b="0">
                <a:solidFill>
                  <a:srgbClr val="BECADA"/>
                </a:solidFill>
                <a:latin typeface="Aptos"/>
              </a:defRPr>
            </a:pPr>
            <a:r>
              <a:t>Context an application can retrieve, such as documentation or inventory data.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" y="4992624"/>
            <a:ext cx="1024128" cy="24688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200" b="1">
                <a:solidFill>
                  <a:srgbClr val="F4F7FB"/>
                </a:solidFill>
                <a:latin typeface="Aptos"/>
              </a:defRPr>
            </a:pPr>
            <a:r>
              <a:t>Prompts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4992624"/>
            <a:ext cx="3858768" cy="42062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050" b="0">
                <a:solidFill>
                  <a:srgbClr val="BECADA"/>
                </a:solidFill>
                <a:latin typeface="Aptos"/>
              </a:defRPr>
            </a:pPr>
            <a:r>
              <a:t>Reusable prompt templates or guided task patterns.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36208" y="3346704"/>
            <a:ext cx="5312664" cy="2331720"/>
          </a:xfrm>
          <a:prstGeom prst="roundRect">
            <a:avLst/>
          </a:prstGeom>
          <a:solidFill>
            <a:srgbClr val="1E344E"/>
          </a:solidFill>
          <a:ln>
            <a:solidFill>
              <a:srgbClr val="1E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55664" y="3538728"/>
            <a:ext cx="4846320" cy="29260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200" b="1">
                <a:solidFill>
                  <a:srgbClr val="60A5FA"/>
                </a:solidFill>
                <a:latin typeface="Aptos"/>
              </a:defRPr>
            </a:pPr>
            <a:r>
              <a:t>WHY ADMINS SHOULD CARE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73952" y="3950208"/>
            <a:ext cx="292608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100" b="1">
                <a:solidFill>
                  <a:srgbClr val="F5BE5A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39712" y="3950208"/>
            <a:ext cx="4443984" cy="43891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050" b="0">
                <a:solidFill>
                  <a:srgbClr val="F4F7FB"/>
                </a:solidFill>
                <a:latin typeface="Aptos"/>
              </a:defRPr>
            </a:pPr>
            <a:r>
              <a:t>A consistent integration pattern across compatible AI clients and systems.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73952" y="4480560"/>
            <a:ext cx="292608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100" b="1">
                <a:solidFill>
                  <a:srgbClr val="F5BE5A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39712" y="4480560"/>
            <a:ext cx="4443984" cy="43891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050" b="0">
                <a:solidFill>
                  <a:srgbClr val="F4F7FB"/>
                </a:solidFill>
                <a:latin typeface="Aptos"/>
              </a:defRPr>
            </a:pPr>
            <a:r>
              <a:t>Can connect AI workflows to operational data and approved actions.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73952" y="5010912"/>
            <a:ext cx="292608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100" b="1">
                <a:solidFill>
                  <a:srgbClr val="F5BE5A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39712" y="5010912"/>
            <a:ext cx="4443984" cy="43891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050" b="0">
                <a:solidFill>
                  <a:srgbClr val="F4F7FB"/>
                </a:solidFill>
                <a:latin typeface="Aptos"/>
              </a:defRPr>
            </a:pPr>
            <a:r>
              <a:t>Does not make a model more accurate or make an integration inherently safe.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792" y="5852160"/>
            <a:ext cx="10927080" cy="512064"/>
          </a:xfrm>
          <a:prstGeom prst="roundRect">
            <a:avLst/>
          </a:prstGeom>
          <a:solidFill>
            <a:srgbClr val="36302D"/>
          </a:solidFill>
          <a:ln>
            <a:solidFill>
              <a:srgbClr val="363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32104" y="5971032"/>
            <a:ext cx="1389888" cy="219456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050" b="1">
                <a:solidFill>
                  <a:srgbClr val="F5BE5A"/>
                </a:solidFill>
                <a:latin typeface="Aptos"/>
              </a:defRPr>
            </a:pPr>
            <a:r>
              <a:t>GUARDRAILS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48840" y="5934456"/>
            <a:ext cx="9144000" cy="310896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050" b="1">
                <a:solidFill>
                  <a:srgbClr val="F4F7FB"/>
                </a:solidFill>
                <a:latin typeface="Aptos"/>
              </a:defRPr>
            </a:pPr>
            <a:r>
              <a:t>Approve trusted servers • Use least privilege • Confirm consequential actions • Protect secrets • Log and review access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792" y="6510528"/>
            <a:ext cx="9601200" cy="16459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850" b="0">
                <a:solidFill>
                  <a:srgbClr val="BECADA"/>
                </a:solidFill>
                <a:latin typeface="Aptos"/>
              </a:defRPr>
            </a:pPr>
            <a:r>
              <a:t>AI BUZZWORDS, DECODED • PRACTICAL GUIDE FOR TECHNICAL TEAMS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18520" y="6473952"/>
            <a:ext cx="502920" cy="20116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900" b="1">
                <a:solidFill>
                  <a:srgbClr val="2DD4BF"/>
                </a:solidFill>
                <a:latin typeface="Aptos"/>
              </a:defRPr>
            </a:pPr>
            <a:r>
              <a:t>MCP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2B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789920" cy="53035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2700" b="1">
                <a:solidFill>
                  <a:srgbClr val="FAFCFF"/>
                </a:solidFill>
                <a:latin typeface="Aptos"/>
              </a:rPr>
              <a:t>Open source, open weights, and foundation models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78408"/>
            <a:ext cx="777240" cy="54864"/>
          </a:xfrm>
          <a:prstGeom prst="rect">
            <a:avLst/>
          </a:prstGeom>
          <a:solidFill>
            <a:srgbClr val="22A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326880" y="438912"/>
            <a:ext cx="2148840" cy="219456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r"/>
            <a:r>
              <a:rPr sz="900" b="1">
                <a:solidFill>
                  <a:srgbClr val="22A99B"/>
                </a:solidFill>
                <a:latin typeface="Aptos"/>
              </a:rPr>
              <a:t>ECOSYSTEM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115568"/>
            <a:ext cx="10972800" cy="38404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300" b="0">
                <a:solidFill>
                  <a:srgbClr val="AABBCF"/>
                </a:solidFill>
                <a:latin typeface="Aptos"/>
              </a:rPr>
              <a:t>These terms are often used loosely and are not equivalent.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737360"/>
            <a:ext cx="5321808" cy="4096512"/>
          </a:xfrm>
          <a:prstGeom prst="roundRect">
            <a:avLst/>
          </a:prstGeom>
          <a:solidFill>
            <a:srgbClr val="263B5B"/>
          </a:solidFill>
          <a:ln>
            <a:solidFill>
              <a:srgbClr val="394C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1965960"/>
            <a:ext cx="4800600" cy="34747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700" b="1">
                <a:solidFill>
                  <a:srgbClr val="3670BE"/>
                </a:solidFill>
                <a:latin typeface="Aptos"/>
              </a:rPr>
              <a:t>THE DISTINCTIONS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450592"/>
            <a:ext cx="4828032" cy="30632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t>•  Foundation model: broadly trained model that can support many tasks.</a:t>
            </a:r>
          </a:p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t>•  Open weights: model parameters are available under a license.</a:t>
            </a:r>
          </a:p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t>•  Open source AI: access to code, data, and reproducibility varies by definition.</a:t>
            </a:r>
          </a:p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t>•  Proprietary model: controlled by a vendor, often accessed through a service.</a:t>
            </a:r>
          </a:p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t>•  Small language model (SLM): smaller model optimized for narrower tasks or constrained environments.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6208" y="1737360"/>
            <a:ext cx="5321808" cy="4096512"/>
          </a:xfrm>
          <a:prstGeom prst="roundRect">
            <a:avLst/>
          </a:prstGeom>
          <a:solidFill>
            <a:srgbClr val="263B5B"/>
          </a:solidFill>
          <a:ln>
            <a:solidFill>
              <a:srgbClr val="394C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55664" y="1965960"/>
            <a:ext cx="4800600" cy="34747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700" b="1">
                <a:solidFill>
                  <a:srgbClr val="22A99B"/>
                </a:solidFill>
                <a:latin typeface="Aptos"/>
              </a:rPr>
              <a:t>DECISION FACTORS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55664" y="2450592"/>
            <a:ext cx="4828032" cy="30632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t>•  License rights and usage restrictions.</a:t>
            </a:r>
          </a:p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t>•  Ability to host, tune, inspect, and update the model.</a:t>
            </a:r>
          </a:p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t>•  Support, patch cadence, and security response.</a:t>
            </a:r>
          </a:p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t>•  Hardware requirements and expected performance.</a:t>
            </a:r>
          </a:p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t>•  Total cost and exit strategy if the provider changes terms.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5961888"/>
            <a:ext cx="1234440" cy="20116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900" b="1">
                <a:solidFill>
                  <a:srgbClr val="F5B742"/>
                </a:solidFill>
                <a:latin typeface="Aptos"/>
              </a:rPr>
              <a:t>REALITY CHECK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5907024"/>
            <a:ext cx="9646920" cy="32004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200" b="0">
                <a:solidFill>
                  <a:srgbClr val="FAFCFF"/>
                </a:solidFill>
                <a:latin typeface="Aptos"/>
              </a:rPr>
              <a:t>“Open” is not a complete answer—read the license and deployment terms.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6510528"/>
            <a:ext cx="9875520" cy="16459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800" b="0">
                <a:solidFill>
                  <a:srgbClr val="AABBCF"/>
                </a:solidFill>
                <a:latin typeface="Aptos"/>
              </a:rPr>
              <a:t>AI BUZZWORDS, DECODED • PRACTICAL GUIDE FOR TECHNICAL TEAMS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r"/>
            <a:r>
              <a:rPr sz="900" b="1">
                <a:solidFill>
                  <a:srgbClr val="AABBCF"/>
                </a:solidFill>
                <a:latin typeface="Aptos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245312961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2B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789920" cy="53035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2700" b="1">
                <a:solidFill>
                  <a:srgbClr val="FAFCFF"/>
                </a:solidFill>
                <a:latin typeface="Aptos"/>
              </a:rPr>
              <a:t>Translate the pitch into testable claims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78408"/>
            <a:ext cx="777240" cy="54864"/>
          </a:xfrm>
          <a:prstGeom prst="rect">
            <a:avLst/>
          </a:prstGeom>
          <a:solidFill>
            <a:srgbClr val="22A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326880" y="438912"/>
            <a:ext cx="2148840" cy="219456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r"/>
            <a:r>
              <a:rPr sz="900" b="1">
                <a:solidFill>
                  <a:srgbClr val="22A99B"/>
                </a:solidFill>
                <a:latin typeface="Aptos"/>
              </a:rPr>
              <a:t>BUYER'S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115568"/>
            <a:ext cx="10972800" cy="38404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300" b="0">
                <a:solidFill>
                  <a:srgbClr val="AABBCF"/>
                </a:solidFill>
                <a:latin typeface="Aptos"/>
              </a:rPr>
              <a:t>Use this table in vendor briefings, demos, and architecture reviews.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72768"/>
            <a:ext cx="10927080" cy="621792"/>
          </a:xfrm>
          <a:prstGeom prst="rect">
            <a:avLst/>
          </a:prstGeom>
          <a:solidFill>
            <a:srgbClr val="263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682495"/>
            <a:ext cx="1874519" cy="36576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300" b="1">
                <a:solidFill>
                  <a:srgbClr val="F5B742"/>
                </a:solidFill>
                <a:latin typeface="Aptos"/>
              </a:rPr>
              <a:t>“Autonomous”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664208"/>
            <a:ext cx="4800600" cy="402336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200" b="0">
                <a:solidFill>
                  <a:srgbClr val="FAFCFF"/>
                </a:solidFill>
                <a:latin typeface="Aptos"/>
              </a:rPr>
              <a:t>Which actions can it take without approval?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1664208"/>
            <a:ext cx="3703320" cy="402336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100" b="1">
                <a:solidFill>
                  <a:srgbClr val="22A99B"/>
                </a:solidFill>
                <a:latin typeface="Aptos"/>
              </a:rPr>
              <a:t>Permission matrix + audit trail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295144"/>
            <a:ext cx="10927080" cy="621792"/>
          </a:xfrm>
          <a:prstGeom prst="rect">
            <a:avLst/>
          </a:prstGeom>
          <a:solidFill>
            <a:srgbClr val="18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404872"/>
            <a:ext cx="1874519" cy="36576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300" b="1">
                <a:solidFill>
                  <a:srgbClr val="F5B742"/>
                </a:solidFill>
                <a:latin typeface="Aptos"/>
              </a:rPr>
              <a:t>“Real-time intelligence”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2386584"/>
            <a:ext cx="4800600" cy="402336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200" b="0">
                <a:solidFill>
                  <a:srgbClr val="FAFCFF"/>
                </a:solidFill>
                <a:latin typeface="Aptos"/>
              </a:rPr>
              <a:t>What is the data freshness and end-to-end latency?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35240" y="2386584"/>
            <a:ext cx="3703320" cy="402336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100" b="1">
                <a:solidFill>
                  <a:srgbClr val="22A99B"/>
                </a:solidFill>
                <a:latin typeface="Aptos"/>
              </a:rPr>
              <a:t>Timestamped test under load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017520"/>
            <a:ext cx="10927080" cy="621792"/>
          </a:xfrm>
          <a:prstGeom prst="rect">
            <a:avLst/>
          </a:prstGeom>
          <a:solidFill>
            <a:srgbClr val="263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3127248"/>
            <a:ext cx="1874519" cy="36576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300" b="1">
                <a:solidFill>
                  <a:srgbClr val="F5B742"/>
                </a:solidFill>
                <a:latin typeface="Aptos"/>
              </a:rPr>
              <a:t>“Predictive”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3108960"/>
            <a:ext cx="4800600" cy="402336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200" b="0">
                <a:solidFill>
                  <a:srgbClr val="FAFCFF"/>
                </a:solidFill>
                <a:latin typeface="Aptos"/>
              </a:rPr>
              <a:t>What outcome is predicted, how early, and with what accuracy?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35240" y="3108960"/>
            <a:ext cx="3703320" cy="402336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100" b="1">
                <a:solidFill>
                  <a:srgbClr val="22A99B"/>
                </a:solidFill>
                <a:latin typeface="Aptos"/>
              </a:rPr>
              <a:t>Backtest + false-positive rate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739896"/>
            <a:ext cx="10927080" cy="621792"/>
          </a:xfrm>
          <a:prstGeom prst="rect">
            <a:avLst/>
          </a:prstGeom>
          <a:solidFill>
            <a:srgbClr val="18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60" y="3849624"/>
            <a:ext cx="1874519" cy="36576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300" b="1">
                <a:solidFill>
                  <a:srgbClr val="F5B742"/>
                </a:solidFill>
                <a:latin typeface="Aptos"/>
              </a:rPr>
              <a:t>“Self-healing”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3831335"/>
            <a:ext cx="4800600" cy="402336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200" b="0">
                <a:solidFill>
                  <a:srgbClr val="FAFCFF"/>
                </a:solidFill>
                <a:latin typeface="Aptos"/>
              </a:rPr>
              <a:t>Which failures are detected and what recovery is safe?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35240" y="3831335"/>
            <a:ext cx="3703320" cy="402336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100" b="1">
                <a:solidFill>
                  <a:srgbClr val="22A99B"/>
                </a:solidFill>
                <a:latin typeface="Aptos"/>
              </a:rPr>
              <a:t>Failure injection + rollback test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4462272"/>
            <a:ext cx="10927080" cy="621792"/>
          </a:xfrm>
          <a:prstGeom prst="rect">
            <a:avLst/>
          </a:prstGeom>
          <a:solidFill>
            <a:srgbClr val="263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2960" y="4572000"/>
            <a:ext cx="1874519" cy="36576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300" b="1">
                <a:solidFill>
                  <a:srgbClr val="F5B742"/>
                </a:solidFill>
                <a:latin typeface="Aptos"/>
              </a:rPr>
              <a:t>“Enterprise-grade”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0" y="4553712"/>
            <a:ext cx="4800600" cy="402336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200" b="0">
                <a:solidFill>
                  <a:srgbClr val="FAFCFF"/>
                </a:solidFill>
                <a:latin typeface="Aptos"/>
              </a:rPr>
              <a:t>Which scale, security, availability, and support commitments?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35240" y="4553712"/>
            <a:ext cx="3703320" cy="402336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100" b="1">
                <a:solidFill>
                  <a:srgbClr val="22A99B"/>
                </a:solidFill>
                <a:latin typeface="Aptos"/>
              </a:rPr>
              <a:t>SLOs, controls, contract terms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5184648"/>
            <a:ext cx="10927080" cy="621792"/>
          </a:xfrm>
          <a:prstGeom prst="rect">
            <a:avLst/>
          </a:prstGeom>
          <a:solidFill>
            <a:srgbClr val="18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2960" y="5294376"/>
            <a:ext cx="1874519" cy="36576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300" b="1">
                <a:solidFill>
                  <a:srgbClr val="F5B742"/>
                </a:solidFill>
                <a:latin typeface="Aptos"/>
              </a:rPr>
              <a:t>“Private / secure AI”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0" y="5276088"/>
            <a:ext cx="4800600" cy="402336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200" b="0">
                <a:solidFill>
                  <a:srgbClr val="FAFCFF"/>
                </a:solidFill>
                <a:latin typeface="Aptos"/>
              </a:rPr>
              <a:t>Where does data flow, persist, and get processed?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35240" y="5276088"/>
            <a:ext cx="3703320" cy="402336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100" b="1">
                <a:solidFill>
                  <a:srgbClr val="22A99B"/>
                </a:solidFill>
                <a:latin typeface="Aptos"/>
              </a:rPr>
              <a:t>Data-flow diagram + retention terms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" y="6510528"/>
            <a:ext cx="9875520" cy="16459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800" b="0">
                <a:solidFill>
                  <a:srgbClr val="AABBCF"/>
                </a:solidFill>
                <a:latin typeface="Aptos"/>
              </a:rPr>
              <a:t>AI BUZZWORDS, DECODED • PRACTICAL GUIDE FOR TECHNICAL TEAMS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r"/>
            <a:r>
              <a:rPr sz="900" b="1">
                <a:solidFill>
                  <a:srgbClr val="AABBCF"/>
                </a:solidFill>
                <a:latin typeface="Aptos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310086159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2B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789920" cy="53035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2700" b="1">
                <a:solidFill>
                  <a:srgbClr val="FAFCFF"/>
                </a:solidFill>
                <a:latin typeface="Aptos"/>
              </a:rPr>
              <a:t>A sensible path from demo to production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78408"/>
            <a:ext cx="777240" cy="54864"/>
          </a:xfrm>
          <a:prstGeom prst="rect">
            <a:avLst/>
          </a:prstGeom>
          <a:solidFill>
            <a:srgbClr val="22A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326880" y="438912"/>
            <a:ext cx="2148840" cy="219456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r"/>
            <a:r>
              <a:rPr sz="900" b="1">
                <a:solidFill>
                  <a:srgbClr val="22A99B"/>
                </a:solidFill>
                <a:latin typeface="Aptos"/>
              </a:rPr>
              <a:t>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115568"/>
            <a:ext cx="10972800" cy="38404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300" b="0">
                <a:solidFill>
                  <a:srgbClr val="AABBCF"/>
                </a:solidFill>
                <a:latin typeface="Aptos"/>
              </a:rPr>
              <a:t>Treat AI as a system to engineer, test, operate, and improve.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737360"/>
            <a:ext cx="5321808" cy="4096512"/>
          </a:xfrm>
          <a:prstGeom prst="roundRect">
            <a:avLst/>
          </a:prstGeom>
          <a:solidFill>
            <a:srgbClr val="263B5B"/>
          </a:solidFill>
          <a:ln>
            <a:solidFill>
              <a:srgbClr val="394C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1965960"/>
            <a:ext cx="4800600" cy="34747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700" b="1">
                <a:solidFill>
                  <a:srgbClr val="3670BE"/>
                </a:solidFill>
                <a:latin typeface="Aptos"/>
              </a:rPr>
              <a:t>START SMALL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450592"/>
            <a:ext cx="4828032" cy="30632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t>•  Choose a narrow, repetitive, measurable workflow.</a:t>
            </a:r>
          </a:p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t>•  Establish a non-AI baseline for quality, time, and cost.</a:t>
            </a:r>
          </a:p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t>•  Use representative, permissioned data.</a:t>
            </a:r>
          </a:p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t>•  Run in advisory or read-only mode first.</a:t>
            </a:r>
          </a:p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t>•  Define unacceptable outcomes before the pilot.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6208" y="1737360"/>
            <a:ext cx="5321808" cy="4096512"/>
          </a:xfrm>
          <a:prstGeom prst="roundRect">
            <a:avLst/>
          </a:prstGeom>
          <a:solidFill>
            <a:srgbClr val="263B5B"/>
          </a:solidFill>
          <a:ln>
            <a:solidFill>
              <a:srgbClr val="394C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55664" y="1965960"/>
            <a:ext cx="4800600" cy="34747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700" b="1">
                <a:solidFill>
                  <a:srgbClr val="22A99B"/>
                </a:solidFill>
                <a:latin typeface="Aptos"/>
              </a:rPr>
              <a:t>SCALE WITH CONTROLS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55664" y="2450592"/>
            <a:ext cx="4828032" cy="30632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t>•  Evaluate accuracy and failure cases continuously.</a:t>
            </a:r>
          </a:p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t>•  Add approval gates before high-impact changes.</a:t>
            </a:r>
          </a:p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t>•  Monitor quality, drift, latency, usage, and cost.</a:t>
            </a:r>
          </a:p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t>•  Version prompts, models, data sources, and workflows.</a:t>
            </a:r>
          </a:p>
          <a:p>
            <a:pPr>
              <a:spcAft>
                <a:spcPts val="800"/>
              </a:spcAft>
              <a:defRPr sz="1400">
                <a:solidFill>
                  <a:srgbClr val="FAFCFF"/>
                </a:solidFill>
                <a:latin typeface="Aptos"/>
              </a:defRPr>
            </a:pPr>
            <a:r>
              <a:t>•  Document ownership, rollback, incident response, and exit plan.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5961888"/>
            <a:ext cx="1234440" cy="20116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900" b="1">
                <a:solidFill>
                  <a:srgbClr val="F5B742"/>
                </a:solidFill>
                <a:latin typeface="Aptos"/>
              </a:rPr>
              <a:t>REALITY CHECK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5907024"/>
            <a:ext cx="9646920" cy="32004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200" b="0">
                <a:solidFill>
                  <a:srgbClr val="FAFCFF"/>
                </a:solidFill>
                <a:latin typeface="Aptos"/>
              </a:rPr>
              <a:t>A successful pilot is evidence—not automatic permission to scale.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6510528"/>
            <a:ext cx="9875520" cy="16459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800" b="0">
                <a:solidFill>
                  <a:srgbClr val="AABBCF"/>
                </a:solidFill>
                <a:latin typeface="Aptos"/>
              </a:rPr>
              <a:t>AI BUZZWORDS, DECODED • PRACTICAL GUIDE FOR TECHNICAL TEAMS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r"/>
            <a:r>
              <a:rPr sz="900" b="1">
                <a:solidFill>
                  <a:srgbClr val="AABBCF"/>
                </a:solidFill>
                <a:latin typeface="Aptos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47410501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2B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789920" cy="53035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2700" b="1">
                <a:solidFill>
                  <a:srgbClr val="FAFCFF"/>
                </a:solidFill>
                <a:latin typeface="Aptos"/>
              </a:rPr>
              <a:t>The AI evaluation scorecard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78408"/>
            <a:ext cx="777240" cy="54864"/>
          </a:xfrm>
          <a:prstGeom prst="rect">
            <a:avLst/>
          </a:prstGeom>
          <a:solidFill>
            <a:srgbClr val="22A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326880" y="438912"/>
            <a:ext cx="2148840" cy="219456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r"/>
            <a:r>
              <a:rPr sz="900" b="1">
                <a:solidFill>
                  <a:srgbClr val="22A99B"/>
                </a:solidFill>
                <a:latin typeface="Aptos"/>
              </a:rPr>
              <a:t>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115568"/>
            <a:ext cx="10972800" cy="38404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300" b="0">
                <a:solidFill>
                  <a:srgbClr val="AABBCF"/>
                </a:solidFill>
                <a:latin typeface="Aptos"/>
              </a:rPr>
              <a:t>Before buying or building, get clear answers to these six questions.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5257800" cy="1115568"/>
          </a:xfrm>
          <a:prstGeom prst="roundRect">
            <a:avLst/>
          </a:prstGeom>
          <a:solidFill>
            <a:srgbClr val="263B5B"/>
          </a:solidFill>
          <a:ln>
            <a:solidFill>
              <a:srgbClr val="394C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8" y="1755648"/>
            <a:ext cx="4754880" cy="25603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500" b="1">
                <a:solidFill>
                  <a:srgbClr val="22A99B"/>
                </a:solidFill>
                <a:latin typeface="Aptos"/>
              </a:rPr>
              <a:t>1. Outcome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103120"/>
            <a:ext cx="4754880" cy="43891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200" b="0">
                <a:solidFill>
                  <a:srgbClr val="FAFCFF"/>
                </a:solidFill>
                <a:latin typeface="Aptos"/>
              </a:rPr>
              <a:t>What measurable problem does this solve?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600200"/>
            <a:ext cx="5257800" cy="1115568"/>
          </a:xfrm>
          <a:prstGeom prst="roundRect">
            <a:avLst/>
          </a:prstGeom>
          <a:solidFill>
            <a:srgbClr val="263B5B"/>
          </a:solidFill>
          <a:ln>
            <a:solidFill>
              <a:srgbClr val="394C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10528" y="1755648"/>
            <a:ext cx="4754880" cy="25603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500" b="1">
                <a:solidFill>
                  <a:srgbClr val="22A99B"/>
                </a:solidFill>
                <a:latin typeface="Aptos"/>
              </a:rPr>
              <a:t>2. Evidence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0528" y="2103120"/>
            <a:ext cx="4754880" cy="43891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200" b="0">
                <a:solidFill>
                  <a:srgbClr val="FAFCFF"/>
                </a:solidFill>
                <a:latin typeface="Aptos"/>
              </a:rPr>
              <a:t>How was performance tested on our tasks and data?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017520"/>
            <a:ext cx="5257800" cy="1115568"/>
          </a:xfrm>
          <a:prstGeom prst="roundRect">
            <a:avLst/>
          </a:prstGeom>
          <a:solidFill>
            <a:srgbClr val="263B5B"/>
          </a:solidFill>
          <a:ln>
            <a:solidFill>
              <a:srgbClr val="394C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86968" y="3172968"/>
            <a:ext cx="4754880" cy="25603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500" b="1">
                <a:solidFill>
                  <a:srgbClr val="22A99B"/>
                </a:solidFill>
                <a:latin typeface="Aptos"/>
              </a:rPr>
              <a:t>3. Access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" y="3520439"/>
            <a:ext cx="4754880" cy="43891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200" b="0">
                <a:solidFill>
                  <a:srgbClr val="FAFCFF"/>
                </a:solidFill>
                <a:latin typeface="Aptos"/>
              </a:rPr>
              <a:t>What can it read, write, execute, and share?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3017520"/>
            <a:ext cx="5257800" cy="1115568"/>
          </a:xfrm>
          <a:prstGeom prst="roundRect">
            <a:avLst/>
          </a:prstGeom>
          <a:solidFill>
            <a:srgbClr val="263B5B"/>
          </a:solidFill>
          <a:ln>
            <a:solidFill>
              <a:srgbClr val="394C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10528" y="3172968"/>
            <a:ext cx="4754880" cy="25603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500" b="1">
                <a:solidFill>
                  <a:srgbClr val="22A99B"/>
                </a:solidFill>
                <a:latin typeface="Aptos"/>
              </a:rPr>
              <a:t>4. Reliability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0528" y="3520439"/>
            <a:ext cx="4754880" cy="43891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200" b="0">
                <a:solidFill>
                  <a:srgbClr val="FAFCFF"/>
                </a:solidFill>
                <a:latin typeface="Aptos"/>
              </a:rPr>
              <a:t>How does it fail, recover, and communicate uncertainty?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434840"/>
            <a:ext cx="5257800" cy="1115568"/>
          </a:xfrm>
          <a:prstGeom prst="roundRect">
            <a:avLst/>
          </a:prstGeom>
          <a:solidFill>
            <a:srgbClr val="263B5B"/>
          </a:solidFill>
          <a:ln>
            <a:solidFill>
              <a:srgbClr val="394C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86968" y="4590288"/>
            <a:ext cx="4754880" cy="25603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500" b="1">
                <a:solidFill>
                  <a:srgbClr val="22A99B"/>
                </a:solidFill>
                <a:latin typeface="Aptos"/>
              </a:rPr>
              <a:t>5. Economics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" y="4937759"/>
            <a:ext cx="4754880" cy="43891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200" b="0">
                <a:solidFill>
                  <a:srgbClr val="FAFCFF"/>
                </a:solidFill>
                <a:latin typeface="Aptos"/>
              </a:rPr>
              <a:t>What is the full cost at expected scale?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4434840"/>
            <a:ext cx="5257800" cy="1115568"/>
          </a:xfrm>
          <a:prstGeom prst="roundRect">
            <a:avLst/>
          </a:prstGeom>
          <a:solidFill>
            <a:srgbClr val="263B5B"/>
          </a:solidFill>
          <a:ln>
            <a:solidFill>
              <a:srgbClr val="394C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10528" y="4590288"/>
            <a:ext cx="4754880" cy="25603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500" b="1">
                <a:solidFill>
                  <a:srgbClr val="22A99B"/>
                </a:solidFill>
                <a:latin typeface="Aptos"/>
              </a:rPr>
              <a:t>6. Ownership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10528" y="4937759"/>
            <a:ext cx="4754880" cy="43891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200" b="0">
                <a:solidFill>
                  <a:srgbClr val="FAFCFF"/>
                </a:solidFill>
                <a:latin typeface="Aptos"/>
              </a:rPr>
              <a:t>Who monitors it, approves changes, and is accountable?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" y="6510528"/>
            <a:ext cx="9875520" cy="16459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800" b="0">
                <a:solidFill>
                  <a:srgbClr val="AABBCF"/>
                </a:solidFill>
                <a:latin typeface="Aptos"/>
              </a:rPr>
              <a:t>AI BUZZWORDS, DECODED • PRACTICAL GUIDE FOR TECHNICAL TEAMS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r"/>
            <a:r>
              <a:rPr sz="900" b="1">
                <a:solidFill>
                  <a:srgbClr val="AABBCF"/>
                </a:solidFill>
                <a:latin typeface="Aptos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67995640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2B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789920" cy="53035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2700" b="1">
                <a:solidFill>
                  <a:srgbClr val="FAFCFF"/>
                </a:solidFill>
                <a:latin typeface="Aptos"/>
              </a:rPr>
              <a:t>Quick glossary: terms worth knowing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78408"/>
            <a:ext cx="777240" cy="54864"/>
          </a:xfrm>
          <a:prstGeom prst="rect">
            <a:avLst/>
          </a:prstGeom>
          <a:solidFill>
            <a:srgbClr val="22A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326880" y="438912"/>
            <a:ext cx="2148840" cy="219456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r"/>
            <a:r>
              <a:rPr sz="900" b="1">
                <a:solidFill>
                  <a:srgbClr val="22A99B"/>
                </a:solidFill>
                <a:latin typeface="Aptos"/>
              </a:rPr>
              <a:t>REFERENCE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115568"/>
            <a:ext cx="10972800" cy="38404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300" b="0">
                <a:solidFill>
                  <a:srgbClr val="AABBCF"/>
                </a:solidFill>
                <a:latin typeface="Aptos"/>
              </a:rPr>
              <a:t>A compact reference for terms that may come up in meetings.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44752"/>
            <a:ext cx="1572768" cy="237744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100" b="1">
                <a:solidFill>
                  <a:srgbClr val="22A99B"/>
                </a:solidFill>
                <a:latin typeface="Aptos"/>
              </a:rPr>
              <a:t>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58568" y="1444752"/>
            <a:ext cx="3886200" cy="43891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900" b="0">
                <a:solidFill>
                  <a:srgbClr val="FAFCFF"/>
                </a:solidFill>
                <a:latin typeface="Aptos"/>
              </a:rPr>
              <a:t>Interface that lets software request a service or model.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1444752"/>
            <a:ext cx="1572768" cy="237744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100" b="1">
                <a:solidFill>
                  <a:srgbClr val="22A99B"/>
                </a:solidFill>
                <a:latin typeface="Aptos"/>
              </a:rPr>
              <a:t>Benchmark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27848" y="1444752"/>
            <a:ext cx="3886200" cy="43891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900" b="0">
                <a:solidFill>
                  <a:srgbClr val="FAFCFF"/>
                </a:solidFill>
                <a:latin typeface="Aptos"/>
              </a:rPr>
              <a:t>Repeatable test used to compare performance or quality.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103120"/>
            <a:ext cx="1572768" cy="237744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100" b="1">
                <a:solidFill>
                  <a:srgbClr val="22A99B"/>
                </a:solidFill>
                <a:latin typeface="Aptos"/>
              </a:rPr>
              <a:t>Bias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58568" y="2103120"/>
            <a:ext cx="3886200" cy="43891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900" b="0">
                <a:solidFill>
                  <a:srgbClr val="FAFCFF"/>
                </a:solidFill>
                <a:latin typeface="Aptos"/>
              </a:rPr>
              <a:t>Systematic skew in data, predictions, or outcomes.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103120"/>
            <a:ext cx="1572768" cy="237744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100" b="1">
                <a:solidFill>
                  <a:srgbClr val="22A99B"/>
                </a:solidFill>
                <a:latin typeface="Aptos"/>
              </a:rPr>
              <a:t>Explainability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27848" y="2103120"/>
            <a:ext cx="3886200" cy="43891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900" b="0">
                <a:solidFill>
                  <a:srgbClr val="FAFCFF"/>
                </a:solidFill>
                <a:latin typeface="Aptos"/>
              </a:rPr>
              <a:t>Methods for inspecting why a model produced an output.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761488"/>
            <a:ext cx="1572768" cy="237744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100" b="1">
                <a:solidFill>
                  <a:srgbClr val="22A99B"/>
                </a:solidFill>
                <a:latin typeface="Aptos"/>
              </a:rPr>
              <a:t>Evaluation / evals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58568" y="2761488"/>
            <a:ext cx="3886200" cy="43891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900" b="0">
                <a:solidFill>
                  <a:srgbClr val="FAFCFF"/>
                </a:solidFill>
                <a:latin typeface="Aptos"/>
              </a:rPr>
              <a:t>Tests that measure model or workflow behavior.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761488"/>
            <a:ext cx="1572768" cy="237744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100" b="1">
                <a:solidFill>
                  <a:srgbClr val="22A99B"/>
                </a:solidFill>
                <a:latin typeface="Aptos"/>
              </a:rPr>
              <a:t>Fine-tuning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27848" y="2761488"/>
            <a:ext cx="3886200" cy="43891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900" b="0">
                <a:solidFill>
                  <a:srgbClr val="FAFCFF"/>
                </a:solidFill>
                <a:latin typeface="Aptos"/>
              </a:rPr>
              <a:t>Additional training to adapt model behavior.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419856"/>
            <a:ext cx="1572768" cy="237744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100" b="1">
                <a:solidFill>
                  <a:srgbClr val="22A99B"/>
                </a:solidFill>
                <a:latin typeface="Aptos"/>
              </a:rPr>
              <a:t>Inference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58568" y="3419856"/>
            <a:ext cx="3886200" cy="43891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900" b="0">
                <a:solidFill>
                  <a:srgbClr val="FAFCFF"/>
                </a:solidFill>
                <a:latin typeface="Aptos"/>
              </a:rPr>
              <a:t>Running a trained model to produce a result.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3419856"/>
            <a:ext cx="1572768" cy="237744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100" b="1">
                <a:solidFill>
                  <a:srgbClr val="22A99B"/>
                </a:solidFill>
                <a:latin typeface="Aptos"/>
              </a:rPr>
              <a:t>Model drift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27848" y="3419856"/>
            <a:ext cx="3886200" cy="43891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900" b="0">
                <a:solidFill>
                  <a:srgbClr val="FAFCFF"/>
                </a:solidFill>
                <a:latin typeface="Aptos"/>
              </a:rPr>
              <a:t>Performance changes as data or conditions change.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4078224"/>
            <a:ext cx="1572768" cy="237744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100" b="1">
                <a:solidFill>
                  <a:srgbClr val="22A99B"/>
                </a:solidFill>
                <a:latin typeface="Aptos"/>
              </a:rPr>
              <a:t>MoE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58568" y="4078224"/>
            <a:ext cx="3886200" cy="43891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900" b="0">
                <a:solidFill>
                  <a:srgbClr val="FAFCFF"/>
                </a:solidFill>
                <a:latin typeface="Aptos"/>
              </a:rPr>
              <a:t>Mixture of experts: routes inputs to model sub-networks.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078224"/>
            <a:ext cx="1572768" cy="237744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100" b="1">
                <a:solidFill>
                  <a:srgbClr val="22A99B"/>
                </a:solidFill>
                <a:latin typeface="Aptos"/>
              </a:rPr>
              <a:t>NLP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27848" y="4078224"/>
            <a:ext cx="3886200" cy="43891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900" b="0">
                <a:solidFill>
                  <a:srgbClr val="FAFCFF"/>
                </a:solidFill>
                <a:latin typeface="Aptos"/>
              </a:rPr>
              <a:t>Natural language processing: techniques for human language.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4736592"/>
            <a:ext cx="1572768" cy="237744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100" b="1">
                <a:solidFill>
                  <a:srgbClr val="22A99B"/>
                </a:solidFill>
                <a:latin typeface="Aptos"/>
              </a:rPr>
              <a:t>Parameters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58568" y="4736592"/>
            <a:ext cx="3886200" cy="43891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900" b="0">
                <a:solidFill>
                  <a:srgbClr val="FAFCFF"/>
                </a:solidFill>
                <a:latin typeface="Aptos"/>
              </a:rPr>
              <a:t>Learned numerical values inside a model.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4736592"/>
            <a:ext cx="1572768" cy="237744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100" b="1">
                <a:solidFill>
                  <a:srgbClr val="22A99B"/>
                </a:solidFill>
                <a:latin typeface="Aptos"/>
              </a:rPr>
              <a:t>RLHF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27848" y="4736592"/>
            <a:ext cx="3886200" cy="43891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900" b="0">
                <a:solidFill>
                  <a:srgbClr val="FAFCFF"/>
                </a:solidFill>
                <a:latin typeface="Aptos"/>
              </a:rPr>
              <a:t>Reinforcement learning from human feedback.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5394960"/>
            <a:ext cx="1572768" cy="237744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100" b="1">
                <a:solidFill>
                  <a:srgbClr val="22A99B"/>
                </a:solidFill>
                <a:latin typeface="Aptos"/>
              </a:rPr>
              <a:t>Temperature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58568" y="5394960"/>
            <a:ext cx="3886200" cy="43891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900" b="0">
                <a:solidFill>
                  <a:srgbClr val="FAFCFF"/>
                </a:solidFill>
                <a:latin typeface="Aptos"/>
              </a:rPr>
              <a:t>Sampling setting that can influence output variability.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5080" y="5394960"/>
            <a:ext cx="1572768" cy="237744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100" b="1">
                <a:solidFill>
                  <a:srgbClr val="22A99B"/>
                </a:solidFill>
                <a:latin typeface="Aptos"/>
              </a:rPr>
              <a:t>Zero-shot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27848" y="5394960"/>
            <a:ext cx="3886200" cy="43891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900" b="0">
                <a:solidFill>
                  <a:srgbClr val="FAFCFF"/>
                </a:solidFill>
                <a:latin typeface="Aptos"/>
              </a:rPr>
              <a:t>Asking a model to perform a task without examples in the prompt.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" y="6510528"/>
            <a:ext cx="9875520" cy="16459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800" b="0">
                <a:solidFill>
                  <a:srgbClr val="AABBCF"/>
                </a:solidFill>
                <a:latin typeface="Aptos"/>
              </a:rPr>
              <a:t>AI BUZZWORDS, DECODED • PRACTICAL GUIDE FOR TECHNICAL TEAMS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r"/>
            <a:r>
              <a:rPr sz="900" b="1">
                <a:solidFill>
                  <a:srgbClr val="AABBCF"/>
                </a:solidFill>
                <a:latin typeface="Aptos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314710083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2B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49808" y="713232"/>
            <a:ext cx="3657600" cy="27432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200" b="1">
                <a:solidFill>
                  <a:srgbClr val="22A99B"/>
                </a:solidFill>
                <a:latin typeface="Aptos"/>
              </a:rPr>
              <a:t>THE 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1325880"/>
            <a:ext cx="9784080" cy="150876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3400" b="1">
                <a:solidFill>
                  <a:srgbClr val="FAFCFF"/>
                </a:solidFill>
                <a:latin typeface="Aptos"/>
              </a:rPr>
              <a:t>Don’t buy the buzzword.
Validate the capability.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3337560"/>
            <a:ext cx="8961120" cy="91440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2000" b="0">
                <a:solidFill>
                  <a:srgbClr val="AABBCF"/>
                </a:solidFill>
                <a:latin typeface="Aptos"/>
              </a:rPr>
              <a:t>Ask what it does. Test it on your data. Bound its permissions.
Measure the outcome. Plan for failure.</a:t>
            </a:r>
          </a:p>
        </p:txBody>
      </p:sp>
      <p:sp>
        <p:nvSpPr>
          <p:cNvPr id="5" name="Rectangle 4"/>
          <p:cNvSpPr/>
          <p:nvPr/>
        </p:nvSpPr>
        <p:spPr>
          <a:xfrm>
            <a:off x="786384" y="4983480"/>
            <a:ext cx="91440" cy="731520"/>
          </a:xfrm>
          <a:prstGeom prst="rect">
            <a:avLst/>
          </a:prstGeom>
          <a:solidFill>
            <a:srgbClr val="F5B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" y="5074920"/>
            <a:ext cx="4572000" cy="45720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800" b="1">
                <a:solidFill>
                  <a:srgbClr val="FAFCFF"/>
                </a:solidFill>
                <a:latin typeface="Aptos"/>
              </a:rPr>
              <a:t>Questions / discussion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6473952"/>
            <a:ext cx="4572000" cy="18288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800" b="0">
                <a:solidFill>
                  <a:srgbClr val="AABBCF"/>
                </a:solidFill>
                <a:latin typeface="Aptos"/>
              </a:rPr>
              <a:t>AI BUZZWORDS, DECODED</a:t>
            </a:r>
          </a:p>
        </p:txBody>
      </p:sp>
    </p:spTree>
    <p:extLst>
      <p:ext uri="{BB962C8B-B14F-4D97-AF65-F5344CB8AC3E}">
        <p14:creationId xmlns:p14="http://schemas.microsoft.com/office/powerpoint/2010/main" val="24344114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4249</Words>
  <Application>Microsoft Office PowerPoint</Application>
  <PresentationFormat>Widescreen</PresentationFormat>
  <Paragraphs>534</Paragraphs>
  <Slides>31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5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From VIAdmin to Cloud Admin: Cut Through the AI Hype</dc:title>
  <dc:subject>Interactive roundtable deck aligned to abstract and key takeaways</dc:subject>
  <dc:creator>OpenAI</dc:creator>
  <cp:keywords>VIAdmin, cloud administration, AI, hybrid cloud, roundtable</cp:keywords>
  <dc:description>generated using python-pptx</dc:description>
  <cp:lastModifiedBy>justin sider</cp:lastModifiedBy>
  <cp:revision>4</cp:revision>
  <dcterms:created xsi:type="dcterms:W3CDTF">2013-01-27T09:14:16Z</dcterms:created>
  <dcterms:modified xsi:type="dcterms:W3CDTF">2026-10-14T09:02:26Z</dcterms:modified>
  <cp:category/>
</cp:coreProperties>
</file>