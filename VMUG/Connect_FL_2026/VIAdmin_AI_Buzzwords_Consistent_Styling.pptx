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6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61A44B-9D4E-4251-BADA-8E10D2D2A37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588BD5-3D99-4869-9E38-E25CB82AE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346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delivery: 30 minutes including discussion. Frame this as a translation guide, not a complete taxonomy of every AI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78007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 that labels vary by vendor. Bring the discussion back to observable behavior and measurable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720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the audience to name one task they would and would not let an agent perform. Highlight permissions and rollback.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994104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 infrastructure teams, distinguish alerting/analytics from remediation. Autonomous action should be earned through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1894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slide as a live vendor-question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08587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the six questions. Invite the audience to use these as an evaluation scorecard.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3682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464040" y="640080"/>
            <a:ext cx="1188720" cy="1188720"/>
          </a:xfrm>
          <a:prstGeom prst="ellipse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87000" y="1463040"/>
            <a:ext cx="594360" cy="594360"/>
          </a:xfrm>
          <a:prstGeom prst="ellipse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823960" y="1965960"/>
            <a:ext cx="411480" cy="411480"/>
          </a:xfrm>
          <a:prstGeom prst="ellipse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41280" y="2743200"/>
            <a:ext cx="1051560" cy="1051560"/>
          </a:xfrm>
          <a:prstGeom prst="ellipse">
            <a:avLst/>
          </a:prstGeom>
          <a:solidFill>
            <a:srgbClr val="1C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85800"/>
            <a:ext cx="71323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3C7D2"/>
                </a:solidFill>
                <a:latin typeface="Aptos"/>
              </a:rPr>
              <a:t>ROUNDtable • PEER-DRIVEN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234440"/>
            <a:ext cx="813816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8FAFD"/>
                </a:solidFill>
                <a:latin typeface="Aptos"/>
              </a:rPr>
              <a:t>From VIAdmin
to Cloud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154680"/>
            <a:ext cx="76809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E5EDF7"/>
                </a:solidFill>
                <a:latin typeface="Aptos"/>
              </a:rPr>
              <a:t>Cut through the AI hype. Map your skills. Build your next-step roadmap.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66360"/>
            <a:ext cx="768096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An interactive discussion about the practical realities of hybrid and public cloud.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80760"/>
            <a:ext cx="59436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FACILITATOR-LED • ATTENDEE-DRIVEN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01 • SET THE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This is a working session—not a sales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We’ll use the room’s experience to create practical, role-specific next steps.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520440" cy="214884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350008"/>
            <a:ext cx="64008" cy="1929384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40487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01  Separate signal from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98648"/>
            <a:ext cx="3136392" cy="1399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Evaluate AI claims against observable capabilities, constraints, and operational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240280"/>
            <a:ext cx="3520440" cy="214884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3400" y="2350008"/>
            <a:ext cx="64008" cy="1929384"/>
          </a:xfrm>
          <a:prstGeom prst="rect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240487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02  Find the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898648"/>
            <a:ext cx="3136392" cy="1399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Compare today’s strengths with the skills your target cloud role actually requires.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40280"/>
            <a:ext cx="3520440" cy="214884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2350008"/>
            <a:ext cx="64008" cy="1929384"/>
          </a:xfrm>
          <a:prstGeom prst="rect">
            <a:avLst/>
          </a:prstGeom>
          <a:solidFill>
            <a:srgbClr val="5D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47888" y="240487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03  Leave with a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898648"/>
            <a:ext cx="3136392" cy="1399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Turn peer experience into a prioritized learning path and first action.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03 • START WITH THE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What is changing in your role?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Take 60 seconds to think, then share one observation with the group.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3520440" cy="233172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2258568"/>
            <a:ext cx="64008" cy="2112263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31343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KEEP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807208"/>
            <a:ext cx="3136392" cy="1581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Which virtualization skills remain valuable in cloud operations?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48840"/>
            <a:ext cx="3520440" cy="233172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3400" y="2258568"/>
            <a:ext cx="64008" cy="2112263"/>
          </a:xfrm>
          <a:prstGeom prst="rect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231343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807208"/>
            <a:ext cx="3136392" cy="1581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What work is shifting from managing infrastructure to managing services, policy, and consumption?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148840"/>
            <a:ext cx="3520440" cy="233172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01000" y="2258568"/>
            <a:ext cx="64008" cy="2112263"/>
          </a:xfrm>
          <a:prstGeom prst="rect">
            <a:avLst/>
          </a:prstGeom>
          <a:solidFill>
            <a:srgbClr val="5D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2168" y="231343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UNCLEAR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2807208"/>
            <a:ext cx="3136392" cy="1581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What part of the cloud or AI story feels hardest to validate?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04 • TAKEAWAY 1: DECONSTRUCT THE HYPE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Judge AI by the job it does—not the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Use this quick test whenever a tool is described as “intelligent,” “autonomous,” or “self-healing.”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651760" cy="233172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167128"/>
            <a:ext cx="64008" cy="2112263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221992"/>
            <a:ext cx="230428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CAPABILITY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15768"/>
            <a:ext cx="2267712" cy="1581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What task does it perform? What inputs and systems does it need?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057400"/>
            <a:ext cx="2651760" cy="233172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29000" y="2167128"/>
            <a:ext cx="64008" cy="2112263"/>
          </a:xfrm>
          <a:prstGeom prst="rect">
            <a:avLst/>
          </a:prstGeom>
          <a:solidFill>
            <a:srgbClr val="5D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0168" y="2221992"/>
            <a:ext cx="230428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715768"/>
            <a:ext cx="2267712" cy="1581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Can we measure accuracy, time saved, incident reduction, or cost?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57400"/>
            <a:ext cx="2651760" cy="233172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2167128"/>
            <a:ext cx="64008" cy="2112263"/>
          </a:xfrm>
          <a:prstGeom prst="rect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2221992"/>
            <a:ext cx="230428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715768"/>
            <a:ext cx="2267712" cy="1581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Can an admin review, constrain, approve, and roll back its actions?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2057400"/>
            <a:ext cx="2514600" cy="233172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06840" y="2167128"/>
            <a:ext cx="64008" cy="2112263"/>
          </a:xfrm>
          <a:prstGeom prst="rect">
            <a:avLst/>
          </a:prstGeom>
          <a:solidFill>
            <a:srgbClr val="E06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08008" y="2221992"/>
            <a:ext cx="216712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BOUNDARIES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8008" y="2715768"/>
            <a:ext cx="2130552" cy="1581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5EDF7"/>
                </a:solidFill>
                <a:latin typeface="Aptos"/>
              </a:rPr>
              <a:t>Where does it fail? What permissions, data, or context are missing?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10698480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 dirty="0" smtClean="0">
                <a:solidFill>
                  <a:srgbClr val="F8FAFD"/>
                </a:solidFill>
                <a:latin typeface="Aptos"/>
              </a:rPr>
              <a:t>What </a:t>
            </a:r>
            <a:r>
              <a:rPr sz="1700" b="1" i="0" dirty="0">
                <a:solidFill>
                  <a:srgbClr val="F8FAFD"/>
                </a:solidFill>
                <a:latin typeface="Aptos"/>
              </a:rPr>
              <a:t>is one AI claim you’ve heard—and what evidence would convince you?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04 • MAKE IT CONCRETE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Where AI can help—and where it can fall short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Discuss the task and its risk, not just the tool brand.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5257800" cy="274320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2212848"/>
            <a:ext cx="64008" cy="2523744"/>
          </a:xfrm>
          <a:prstGeom prst="rect">
            <a:avLst/>
          </a:prstGeom>
          <a:solidFill>
            <a:srgbClr val="5D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267712"/>
            <a:ext cx="491032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POTENTIAL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761487"/>
            <a:ext cx="4873752" cy="1993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5EDF7"/>
                </a:solidFill>
                <a:latin typeface="Aptos"/>
              </a:rPr>
              <a:t>• Drafting scripts, queries, and runbooks
• Explaining unfamiliar APIs or error messages
• Summarizing logs and suggesting investigation paths
• Generating first-pass documentation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03120"/>
            <a:ext cx="5257800" cy="274320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2212848"/>
            <a:ext cx="64008" cy="2523744"/>
          </a:xfrm>
          <a:prstGeom prst="rect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19088" y="2267712"/>
            <a:ext cx="491032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8FAFD"/>
                </a:solidFill>
                <a:latin typeface="Aptos"/>
              </a:rPr>
              <a:t>REQUIRES HUMAN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761487"/>
            <a:ext cx="4873752" cy="1993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5EDF7"/>
                </a:solidFill>
                <a:latin typeface="Aptos"/>
              </a:rPr>
              <a:t>• Unverified commands or configuration changes
• Decisions without environment context
• Security, access, compliance, or cost trade-offs
• Actions that are difficult to audit or reverse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03520"/>
            <a:ext cx="10607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5EDF7"/>
                </a:solidFill>
                <a:latin typeface="Aptos"/>
              </a:rPr>
              <a:t>CHECK BEFORE USE: Validate outputs, test safely, apply least privilege, protect sensitive data, and keep change control in place.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05 • TAKEAWAY 3: SKILL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Translate the work you already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The goal is not to start over—it’s to extend proven operational thinking into cloud-native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24612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2075688"/>
            <a:ext cx="3026663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VIADMIN EXPERIENCE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965960"/>
            <a:ext cx="352044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70248" y="2075688"/>
            <a:ext cx="3300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CLOUD EQUIVALENT TO EXPLORE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965960"/>
            <a:ext cx="356616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19288" y="2075688"/>
            <a:ext cx="334670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NEW QUESTIONS TO ASK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06040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688336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VM provisioning &amp; templates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606040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2688336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Compute instances, images, IaC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606040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2688336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How is desired state defined and reviewed?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27832"/>
            <a:ext cx="324612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3310128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Clusters, HA &amp;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227832"/>
            <a:ext cx="352044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70248" y="3310128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Regions/zones, autoscaling, quotas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227832"/>
            <a:ext cx="356616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19288" y="3310128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What are the failure domains and limits?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849624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" y="3931920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Networks &amp; port groups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3849624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70248" y="3931920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VPC/VNet, subnets, routes, security rules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3849624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19288" y="3931920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Who owns connectivity and policy?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471416"/>
            <a:ext cx="324612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8" y="4553712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Datastores &amp; storage tiers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4471416"/>
            <a:ext cx="352044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70248" y="4553712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Object/block/file storage, lifecycle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4471416"/>
            <a:ext cx="356616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19288" y="4553712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What drives durability, performance, and cost?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093208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5528" y="5175504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Monitoring &amp; troubleshooting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5093208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70248" y="5175504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Cloud-native telemetry, logs, traces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09560" y="5093208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19288" y="5175504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How do we connect signals to service health?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05 • BEYOND THE HYPERVISOR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Cloud administration adds new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Use this as a prompt list, not a checklist everyone must master at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2167128"/>
            <a:ext cx="64008" cy="1060704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Identity &amp;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Roles, policies, workload identity, least 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60" y="2167128"/>
            <a:ext cx="64008" cy="1060704"/>
          </a:xfrm>
          <a:prstGeom prst="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172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Infrastructure as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Reusable templates, version control, plan/apply 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75320" y="2167128"/>
            <a:ext cx="64008" cy="1060704"/>
          </a:xfrm>
          <a:prstGeom prst="rect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648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Networking &amp;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Cloud boundaries, private connectivity, zero-trust patterns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3739896"/>
            <a:ext cx="64008" cy="1060704"/>
          </a:xfrm>
          <a:prstGeom prst="rect">
            <a:avLst/>
          </a:prstGeom>
          <a:solidFill>
            <a:srgbClr val="5D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Observability &amp;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Service-level objectives, telemetry, incident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80560" y="3739896"/>
            <a:ext cx="64008" cy="1060704"/>
          </a:xfrm>
          <a:prstGeom prst="rect">
            <a:avLst/>
          </a:prstGeom>
          <a:solidFill>
            <a:srgbClr val="E06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172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Cost &amp; governance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Budgets, tagging, chargeback/showback, policy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75320" y="3739896"/>
            <a:ext cx="64008" cy="1060704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648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Containers &amp; platform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648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Know when VMs are right—and when managed services 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8640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 smtClean="0">
                <a:solidFill>
                  <a:srgbClr val="F8FAFD"/>
                </a:solidFill>
                <a:latin typeface="Aptos"/>
              </a:rPr>
              <a:t>Which </a:t>
            </a:r>
            <a:r>
              <a:rPr sz="1600" b="1" i="0" dirty="0">
                <a:solidFill>
                  <a:srgbClr val="F8FAFD"/>
                </a:solidFill>
                <a:latin typeface="Aptos"/>
              </a:rPr>
              <a:t>of these is already part of your job? Which one causes the most uncertainty?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06 • TAKEAWAY 2: IDENTIFY KNOWLEDGE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Benchmark the gap—not the person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Choose one target role or responsibility, then rate your confidence honestly.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2057400" cy="1828800"/>
          </a:xfrm>
          <a:prstGeom prst="roundRect">
            <a:avLst/>
          </a:prstGeom>
          <a:solidFill>
            <a:srgbClr val="1C2B43"/>
          </a:solidFill>
          <a:ln w="25400">
            <a:solidFill>
              <a:srgbClr val="E06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1783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E06868"/>
                </a:solidFill>
                <a:latin typeface="Aptos"/>
              </a:rPr>
              <a:t>1  Aware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63240"/>
            <a:ext cx="173736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I can explain the concept.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240280"/>
            <a:ext cx="2057400" cy="1828800"/>
          </a:xfrm>
          <a:prstGeom prst="roundRect">
            <a:avLst/>
          </a:prstGeom>
          <a:solidFill>
            <a:srgbClr val="1C2B43"/>
          </a:solidFill>
          <a:ln w="25400">
            <a:solidFill>
              <a:srgbClr val="F6A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54679" y="2487168"/>
            <a:ext cx="1783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6A54B"/>
                </a:solidFill>
                <a:latin typeface="Aptos"/>
              </a:rPr>
              <a:t>2  Guided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3063240"/>
            <a:ext cx="173736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I can do it with a runbook or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240280"/>
            <a:ext cx="2057400" cy="1828800"/>
          </a:xfrm>
          <a:prstGeom prst="roundRect">
            <a:avLst/>
          </a:prstGeom>
          <a:solidFill>
            <a:srgbClr val="1C2B43"/>
          </a:solidFill>
          <a:ln w="25400">
            <a:solidFill>
              <a:srgbClr val="43C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40680" y="2487168"/>
            <a:ext cx="1783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43C7D2"/>
                </a:solidFill>
                <a:latin typeface="Aptos"/>
              </a:rPr>
              <a:t>3  Independent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8112" y="3063240"/>
            <a:ext cx="173736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I can complete routine work safely.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2240280"/>
            <a:ext cx="2057400" cy="1828800"/>
          </a:xfrm>
          <a:prstGeom prst="roundRect">
            <a:avLst/>
          </a:prstGeom>
          <a:solidFill>
            <a:srgbClr val="1C2B43"/>
          </a:solidFill>
          <a:ln w="25400">
            <a:solidFill>
              <a:srgbClr val="377B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26680" y="2487168"/>
            <a:ext cx="1783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377BCD"/>
                </a:solidFill>
                <a:latin typeface="Aptos"/>
              </a:rPr>
              <a:t>4  Troubleshooter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4112" y="3063240"/>
            <a:ext cx="173736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I can diagnose failures and trade-offs.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0" y="2240280"/>
            <a:ext cx="2057400" cy="1828800"/>
          </a:xfrm>
          <a:prstGeom prst="roundRect">
            <a:avLst/>
          </a:prstGeom>
          <a:solidFill>
            <a:srgbClr val="1C2B43"/>
          </a:solidFill>
          <a:ln w="25400">
            <a:solidFill>
              <a:srgbClr val="5DBE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12680" y="2487168"/>
            <a:ext cx="1783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DBE91"/>
                </a:solidFill>
                <a:latin typeface="Aptos"/>
              </a:rPr>
              <a:t>5  Design /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0112" y="3063240"/>
            <a:ext cx="173736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I can design standards and guide others.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86400"/>
            <a:ext cx="10515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Peer exchange: Pair up. Each person shares one strength, one gap, and one resource that helped.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08 • TAKEAWAY 4: COMMUNITY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Turn the conversation into a 30-day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Keep the roadmap small enough to execute alongside the day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21945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3C7D2"/>
                </a:solidFill>
                <a:latin typeface="Aptos"/>
              </a:rPr>
              <a:t>PRIORITY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965960"/>
            <a:ext cx="8138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5EDF7"/>
                </a:solidFill>
                <a:latin typeface="Aptos"/>
              </a:rPr>
              <a:t>The one gap that matters most for my target role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441448"/>
            <a:ext cx="10469880" cy="10972"/>
          </a:xfrm>
          <a:prstGeom prst="rect">
            <a:avLst/>
          </a:prstGeom>
          <a:solidFill>
            <a:srgbClr val="36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79191"/>
            <a:ext cx="21945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3C7D2"/>
                </a:solidFill>
                <a:latin typeface="Aptos"/>
              </a:rPr>
              <a:t>LEARNING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679191"/>
            <a:ext cx="8138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5EDF7"/>
                </a:solidFill>
                <a:latin typeface="Aptos"/>
              </a:rPr>
              <a:t>Lab, course, docs, peer pairing, or a small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154679"/>
            <a:ext cx="10469880" cy="10972"/>
          </a:xfrm>
          <a:prstGeom prst="rect">
            <a:avLst/>
          </a:prstGeom>
          <a:solidFill>
            <a:srgbClr val="36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92424"/>
            <a:ext cx="21945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3C7D2"/>
                </a:solidFill>
                <a:latin typeface="Aptos"/>
              </a:rPr>
              <a:t>PROOF OF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3392424"/>
            <a:ext cx="8138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5EDF7"/>
                </a:solidFill>
                <a:latin typeface="Aptos"/>
              </a:rPr>
              <a:t>What I will build, explain, troubleshoot, or demonstrate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67912"/>
            <a:ext cx="10469880" cy="10972"/>
          </a:xfrm>
          <a:prstGeom prst="rect">
            <a:avLst/>
          </a:prstGeom>
          <a:solidFill>
            <a:srgbClr val="36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105656"/>
            <a:ext cx="21945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3C7D2"/>
                </a:solidFill>
                <a:latin typeface="Aptos"/>
              </a:rPr>
              <a:t>COMMUNITY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105656"/>
            <a:ext cx="8138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5EDF7"/>
                </a:solidFill>
                <a:latin typeface="Aptos"/>
              </a:rPr>
              <a:t>Person, group, event, or resource that can help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581144"/>
            <a:ext cx="10469880" cy="10972"/>
          </a:xfrm>
          <a:prstGeom prst="rect">
            <a:avLst/>
          </a:prstGeom>
          <a:solidFill>
            <a:srgbClr val="36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818888"/>
            <a:ext cx="21945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3C7D2"/>
                </a:solidFill>
                <a:latin typeface="Aptos"/>
              </a:rPr>
              <a:t>FIRST STEP + 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818888"/>
            <a:ext cx="8138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5EDF7"/>
                </a:solidFill>
                <a:latin typeface="Aptos"/>
              </a:rPr>
              <a:t>A specific action I can take in the next 7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94375"/>
            <a:ext cx="10469880" cy="10972"/>
          </a:xfrm>
          <a:prstGeom prst="rect">
            <a:avLst/>
          </a:prstGeom>
          <a:solidFill>
            <a:srgbClr val="36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8FAFD"/>
                </a:solidFill>
                <a:latin typeface="Aptos"/>
              </a:rPr>
              <a:t>Make it peer-powered: ask someone to review your plan and schedule a check-in.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823960" y="0"/>
            <a:ext cx="3364992" cy="6858000"/>
          </a:xfrm>
          <a:prstGeom prst="roundRect">
            <a:avLst/>
          </a:prstGeom>
          <a:solidFill>
            <a:srgbClr val="1B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464040" y="731520"/>
            <a:ext cx="1828800" cy="1737360"/>
          </a:xfrm>
          <a:prstGeom prst="roundRect">
            <a:avLst/>
          </a:prstGeom>
          <a:solidFill>
            <a:srgbClr val="367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195560" y="2743200"/>
            <a:ext cx="1143000" cy="1143000"/>
          </a:xfrm>
          <a:prstGeom prst="round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98280" y="4389120"/>
            <a:ext cx="2148840" cy="1097280"/>
          </a:xfrm>
          <a:prstGeom prst="roundRect">
            <a:avLst/>
          </a:prstGeom>
          <a:solidFill>
            <a:srgbClr val="2C4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680960" cy="155448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3600" b="1">
                <a:solidFill>
                  <a:srgbClr val="FAFCFF"/>
                </a:solidFill>
                <a:latin typeface="Aptos"/>
              </a:rPr>
              <a:t>AI BUZZWORDS,
DECODED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880360"/>
            <a:ext cx="7132320" cy="9144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000" b="0">
                <a:solidFill>
                  <a:srgbClr val="AABBCF"/>
                </a:solidFill>
                <a:latin typeface="Aptos"/>
              </a:rPr>
              <a:t>What the terms mean, what the technology does,
and what technical teams should ask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800600"/>
            <a:ext cx="7223760" cy="50292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400" b="1">
                <a:solidFill>
                  <a:srgbClr val="22A99B"/>
                </a:solidFill>
                <a:latin typeface="Aptos"/>
              </a:rPr>
              <a:t>A practical guide for infrastructure, operations, and technology leaders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760720"/>
            <a:ext cx="71323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FAFCFF"/>
                </a:solidFill>
                <a:latin typeface="Aptos"/>
              </a:rPr>
              <a:t>Less hype. Better questions. More useful outcomes.</a:t>
            </a:r>
          </a:p>
        </p:txBody>
      </p:sp>
    </p:spTree>
    <p:extLst>
      <p:ext uri="{BB962C8B-B14F-4D97-AF65-F5344CB8AC3E}">
        <p14:creationId xmlns:p14="http://schemas.microsoft.com/office/powerpoint/2010/main" val="2041763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The problem with AI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 same label can describe very different capabilities.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MARKETING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Words like “intelligent,” “autonomous,” and “agentic” sound precise—but often are not.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Vendors may use the same term for different architectures and levels of maturity.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demo proves a workflow can work once; it does not prove production reliability.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THE PRACTICAL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Ask what the system actually does, using which data and models.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Separate a capability from a product feature and from a business outcome.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Demand measurable results, clear limits, and a safe failure mode.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Translate every buzzword into a behavior you can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44819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 quick map of the AI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terms are related, but they are not interchangeable.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746504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03120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Broad field: systems performing tasks associated with human intelligence.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600200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74536" y="1746504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103120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Models learn patterns from examples or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81528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227832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Deep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84448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Machine learning using multi-layer neural networks.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3368" y="3081528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74536" y="3227832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Generative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3584448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Creates content such as text, images, audio, or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562856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709160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Foundation model /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065776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Broadly trained model; LLMs focus on language.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3368" y="4562856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74536" y="4709160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AI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5065776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The product workflow around a model: data, tools, controls, and UI.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204477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Machine learning terms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Most AI systems depend on patterns learned from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TERMS YOU'LL HEAR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Training: adjusting a model using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Inference: using a trained model to produce an output.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Supervised learning: learning from labeled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Unsupervised learning: finding structure without target labels.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Reinforcement learning: learning through actions, feedback, or rewards.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TO 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data was used—and is it representative of our environment?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does good performance mean, and how is it measured?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the system need retraining as conditions change?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results be explained, audited, or reproduced?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 model learns statistical patterns; it does not automatically understand your business.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188037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Generative AI, LLMs, and tokens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Generative systems produce outputs based on learned patterns and supplied 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Generative AI: creates content rather than only classifying or scoring.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LLM: large language model, designed to process and generate language.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Token: a chunk of text processed by a model; not always a whole word.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Context window: the input and conversation a model can consider at once.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Multimodal: handles more than one data type, such as text, images, or audio.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IT MEANS IN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Longer context can help, but does not guarantee perfect recall.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model may summarize logs or draft scripts, but can omit details.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Multimodal does not mean it can interpret every file accurately.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Output quality depends on prompt, context, model, and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Fluent output is not proof of factual accuracy.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397854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Hallucinations, grounding, and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confident answer can still be wrong. Grounding connects responses to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Hallucination: plausible-sounding output that is false or unsupported.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Grounding: tying a response to trusted data or evidence.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RAG: retrieval-augmented generation; retrieve sources, then generate an answer.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Embedding: numerical representation used to compare semantic similarity.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Vector database: stores and searches vectors, often for similarity retrieval.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IT DOES—AND DOESN'T—SOLVE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 can improve access to current or private documents.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Retrieval can return irrelevant, stale, or incomplete material.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Citations help only if they point to evidence that supports the claim.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 does not retrain the model or guarantee truth.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Check the source, not just the answer.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6451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Prompting, fine-tuning, and model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Different techniques change different parts of the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 engineering: structuring instructions and context.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System prompt: high-level behavior instructions for an application.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Few-shot prompting: showing examples in the prompt.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Fine-tuning: further training a model on task-specific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Distillation: transferring behavior from a larger model to a smaller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WHEN EACH MAY HELP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Prompting is often the fastest way to improve a workflow.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Few-shot examples can clarify desired format or style.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Fine-tuning may help specialized behavior—not live facts.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Smaller models may reduce cost and latency for bounded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Test alternatives against representative tasks, not cherry-picked demos.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Do not fine-tune to solve a problem that better data or instructions would fix.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84782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 agents and agentic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“Agent” is one of the most overused terms in AI marketing.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agent: a system that uses a model to pursue a goal, often with tools.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Agentic workflow: multi-step process where the system selects actions dynamically.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Tool/function calling: model requests an application to run a defined operation.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Planning: breaking a goal into steps or selecting the next action.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Multi-agent: multiple agents or roles coordinate on a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REALITY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An agent is not automatically independent, reliable, or safe.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Tools determine what it can actually read, change, or execute.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More steps create more opportunities for errors and drift.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Use bounded permissions, approval gates, timeouts, and audit logs.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Start with a workflow that has a clear success test and rollback.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An agent is an automation design pattern—not a digital employee.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06662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Copilots, assistants, chatbots, and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PRODUCT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labels describe user experience more than a specific architecture.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COMMON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Chatbot: conversational interface; may be scripted or model-powered.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assistant: helps answer, draft, summarize, or perform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Copilot: assists a person inside a workflow, often with contextual access.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Autopilot: implies actions can happen with less human intervention.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Human-in-the-loop: a person reviews or approves part of the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QUESTIONS THAT MATTER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it only suggest, or can it execute changes?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data can it see, and under whose identity?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Where is human approval required?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users inspect what it did and reverse the action?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Is it useful inside the tools the team already uses?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Ignore the label; map the permissions and actual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38873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AIOps, predictive operations, and “self-healing”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AI can help detect patterns—but autonomous remediation needs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AIOps: applying analytics/ML/AI to IT operations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Anomaly detection: identifying behavior that differs from a baseline.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Predictive analytics: estimating future events or conditions from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Root-cause analysis: narrowing possible causes of an incident.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Self-healing: detecting an issue and triggering corrective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TO 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it reduce alert noise or just create another dashboard?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predictions calibrated and early enough to act on?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it explain evidence behind a suggested cause?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remediations tested, scoped, and reversible?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Measure false positives, missed incidents, and time-to-resolution.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“Self-healing” should mean a defined recovery path, not unchecked 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223113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Data, vector search, and synthetic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 quality and permissions of data often matter as much as the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pipeline: moves and transforms data for downstream use.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lake / warehouse: stores data for different processing and analytics needs.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Synthetic data: artificially generated data used for testing or training.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Knowledge graph: represents entities and relationships explicitly.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Semantic search: searches by meaning or similarity, not only exact keywords.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WATCH OUT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Stale, duplicated, or poorly labeled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Sensitive data copied into embeddings, logs, or prompts.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Synthetic data that repeats bias or misses real-world edge cases.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Permissions that are lost when documents are indexed.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polished search experience over incomplete source material.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If the data is wrong, AI can make the wrong answer easier to find.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597481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Responsible AI, guardrails, and red teaming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Responsible use is an engineering discipline, not a checkbox.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Guardrails: controls that constrain inputs, outputs, or actions.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Red teaming: deliberately probing a system for weaknesses.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 injection: malicious instructions embedded in input or retrieved content.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PII: personally identifiable information.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governance: policies, accountability, risk management, and oversight.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CONTROLS TO EXPECT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Least-privilege access and separation of duties.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classification, retention rules, and vendor-use clarity.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Evaluation for bias, unsafe output, and prompt injection.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Logging that supports audit without retaining unnecessary secrets.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way to disable the feature and fall back to a known process.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Treat model output and retrieved content as untrusted input.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42615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 security and enterprise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AI adds new attack surfaces; it does not replace security fundamentals.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TERMS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Model security: protecting models, weights, APIs, and serving infrastructure.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leakage: sensitive information exposed through prompts, outputs, or logs.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Jailbreak: attempt to bypass intended restrictions.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On-prem / private AI: deployment or controls designed for a chosen boundary.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Sovereign AI: broad term for control over data, infrastructure, and jurisdiction.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DEPLOYMENT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Where do prompts, files, telemetry, and outputs travel?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inputs used to train or improve a provider's models?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identity and network controls protect model endpoints?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How are model versions, dependencies, and vulnerabilities managed?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does “private” mean contractually and technically?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Ask for a data-flow diagram and security boundaries—not a privacy slogan.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593323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Latency, throughput, inference cost, and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model that works in a demo may not fit production budgets or service levels.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Latency: time between request and response.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Throughput: amount of work completed per unit of time.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Inference cost: cost of running the model for requests.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Quantization: reducing numerical precision to lower memory/compute needs.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Edge AI: running AI on or near the device where data is generated.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MEASURE IN YOUR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Typical and worst-case response times.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Cost per useful task—not only cost per token.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Quality changes after quantization or model compression.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Peak load, concurrency, and capacity headroom.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Operational costs: GPUs, power, cooling, storage, and staff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Benchmark end-to-end outcomes under realistic load.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329481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Open source, open weights, and foundation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terms are often used loosely and are not equivalent.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DISTINCTIONS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Foundation model: broadly trained model that can support many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Open weights: model parameters are available under a license.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Open source AI: access to code, data, and reproducibility varies by definition.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Proprietary model: controlled by a vendor, often accessed through a service.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Small language model (SLM): smaller model optimized for narrower tasks or constrained environments.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DECISION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License rights and usage restrictions.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Ability to host, tune, inspect, and update the model.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Support, patch cadence, and security response.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Hardware requirements and expected performance.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Total cost and exit strategy if the provider changes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“Open” is not a complete answer—read the license and deployment terms.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4531296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Translate the pitch into testable claims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BUYER'S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Use this table in vendor briefings, demos, and architecture reviews.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82495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“Autonomous”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64208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actions can it take without approval?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664208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Permission matrix + audit trail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95144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04872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“Real-time intelligence”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86584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is the data freshness and end-to-end latency?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386584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Timestamped test under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127248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“Predictive”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108960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outcome is predicted, how early, and with what accuracy?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108960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Backtest + false-positive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39896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849624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“Self-healing”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831335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failures are detected and what recovery is safe?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831335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Failure injection + rollback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462272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572000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“Enterprise-grade”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553712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scale, security, availability, and support commitments?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4553712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SLOs, controls, contract terms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84648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294376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“Private / secure AI”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76088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Where does data flow, persist, and get processed?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5276088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Data-flow diagram + retention terms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1008615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 sensible path from demo to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Treat AI as a system to engineer, test, operate, and improve.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Choose a narrow, repetitive, measurable workflow.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Establish a non-AI baseline for quality, time, and cost.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Use representative, permissioned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Run in advisory or read-only mode first.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Define unacceptable outcomes before the pilot.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SCALE WITH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Evaluate accuracy and failure cases continuously.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Add approval gates before high-impact changes.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Monitor quality, drift, latency, usage, and cost.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Version prompts, models, data sources, and workflows.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Document ownership, rollback, incident response, and exit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 successful pilot is evidence—not automatic permission to scale.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741050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The AI evaluation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Before buying or building, get clear answers to these six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1.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03120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measurable problem does this solve?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0020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175564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2.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How was performance tested on our tasks and data?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1752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6968" y="317296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3.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52043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can it read, write, execute, and share?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01752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317296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4. 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52043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How does it fail, recover, and communicate uncertainty?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3484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459028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5.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93775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is the full cost at expected scale?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3484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459028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6.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93775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Who monitors it, approves changes, and is accountable?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799564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Quick glossary: terms worth knowing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compact reference for terms that may come up in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8568" y="144475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Interface that lets software request a service or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44475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7848" y="144475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Repeatable test used to compare performance or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210312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Systematic skew in data, predictions, or outcomes.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Explainability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7848" y="210312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Methods for inspecting why a model produced an output.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Evaluation / evals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8568" y="2761488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Tests that measure model or workflow behavior.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61488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Fine-tuning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61488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Additional training to adapt model behavior.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419856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3419856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Running a trained model to produce a result.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19856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Model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3419856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Performance changes as data or conditions change.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MoE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58568" y="4078224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Mixture of experts: routes inputs to model sub-networks.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78224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NLP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4078224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Natural language processing: techniques for human language.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3659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473659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Learned numerical values inside a model.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3659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RLHF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7848" y="473659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Reinforcement learning from human feedback.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39496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539496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Sampling setting that can influence output variability.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39496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Zero-shot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7848" y="539496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Asking a model to perform a task without examples in the prompt.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147100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713232"/>
            <a:ext cx="3657600" cy="27432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1">
                <a:solidFill>
                  <a:srgbClr val="22A99B"/>
                </a:solidFill>
                <a:latin typeface="Aptos"/>
              </a:rP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325880"/>
            <a:ext cx="9784080" cy="1508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3400" b="1">
                <a:solidFill>
                  <a:srgbClr val="FAFCFF"/>
                </a:solidFill>
                <a:latin typeface="Aptos"/>
              </a:rPr>
              <a:t>Don’t buy the buzzword.
Validate the capability.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337560"/>
            <a:ext cx="8961120" cy="9144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000" b="0">
                <a:solidFill>
                  <a:srgbClr val="AABBCF"/>
                </a:solidFill>
                <a:latin typeface="Aptos"/>
              </a:rPr>
              <a:t>Ask what it does. Test it on your data. Bound its permissions.
Measure the outcome. Plan for failure.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4983480"/>
            <a:ext cx="91440" cy="731520"/>
          </a:xfrm>
          <a:prstGeom prst="rect">
            <a:avLst/>
          </a:prstGeom>
          <a:solidFill>
            <a:srgbClr val="F5B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074920"/>
            <a:ext cx="4572000" cy="4572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800" b="1">
                <a:solidFill>
                  <a:srgbClr val="FAFCFF"/>
                </a:solidFill>
                <a:latin typeface="Aptos"/>
              </a:rPr>
              <a:t>Questions /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6473952"/>
            <a:ext cx="4572000" cy="18288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</a:t>
            </a:r>
          </a:p>
        </p:txBody>
      </p:sp>
    </p:spTree>
    <p:extLst>
      <p:ext uri="{BB962C8B-B14F-4D97-AF65-F5344CB8AC3E}">
        <p14:creationId xmlns:p14="http://schemas.microsoft.com/office/powerpoint/2010/main" val="2434411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3948</Words>
  <Application>Microsoft Office PowerPoint</Application>
  <PresentationFormat>Widescreen</PresentationFormat>
  <Paragraphs>490</Paragraphs>
  <Slides>29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VIAdmin to Cloud Admin: Cut Through the AI Hype</dc:title>
  <dc:subject>Interactive roundtable deck aligned to abstract and key takeaways</dc:subject>
  <dc:creator>OpenAI</dc:creator>
  <cp:keywords>VIAdmin, cloud administration, AI, hybrid cloud, roundtable</cp:keywords>
  <dc:description>generated using python-pptx</dc:description>
  <cp:lastModifiedBy>justin sider</cp:lastModifiedBy>
  <cp:revision>4</cp:revision>
  <dcterms:created xsi:type="dcterms:W3CDTF">2013-01-27T09:14:16Z</dcterms:created>
  <dcterms:modified xsi:type="dcterms:W3CDTF">2026-10-13T06:12:07Z</dcterms:modified>
  <cp:category/>
</cp:coreProperties>
</file>