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2" r:id="rId3"/>
    <p:sldId id="263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9" r:id="rId19"/>
    <p:sldId id="283" r:id="rId20"/>
    <p:sldId id="284" r:id="rId21"/>
    <p:sldId id="285" r:id="rId22"/>
    <p:sldId id="286" r:id="rId23"/>
    <p:sldId id="287" r:id="rId24"/>
    <p:sldId id="28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1A44B-9D4E-4251-BADA-8E10D2D2A37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88BD5-3D99-4869-9E38-E25CB82A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4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delivery: 30 minutes including discussion. Frame this as a translation guide, not a complete taxonomy of every AI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78007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that labels vary by vendor. Bring the discussion back to observable behavior and measurable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372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audience to name one task they would and would not let an agent perform. Highlight permissions and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99410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infrastructure teams, distinguish alerting/analytics from remediation. Autonomous action should be earned through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81894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as a live vendor-question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8587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six questions. Invite the audience to use these as an evaluation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3682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640080"/>
            <a:ext cx="1188720" cy="1188720"/>
          </a:xfrm>
          <a:prstGeom prst="ellipse">
            <a:avLst/>
          </a:prstGeom>
          <a:solidFill>
            <a:srgbClr val="377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463040"/>
            <a:ext cx="594360" cy="594360"/>
          </a:xfrm>
          <a:prstGeom prst="ellipse">
            <a:avLst/>
          </a:prstGeom>
          <a:solidFill>
            <a:srgbClr val="43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23960" y="1965960"/>
            <a:ext cx="411480" cy="411480"/>
          </a:xfrm>
          <a:prstGeom prst="ellipse">
            <a:avLst/>
          </a:prstGeom>
          <a:solidFill>
            <a:srgbClr val="F6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2743200"/>
            <a:ext cx="1051560" cy="1051560"/>
          </a:xfrm>
          <a:prstGeom prst="ellipse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81381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8FAFD"/>
                </a:solidFill>
                <a:latin typeface="Aptos"/>
              </a:rPr>
              <a:t>From VIAdmin
to Cloud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54680"/>
            <a:ext cx="7680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 dirty="0">
                <a:solidFill>
                  <a:srgbClr val="E5EDF7"/>
                </a:solidFill>
                <a:latin typeface="Aptos"/>
              </a:rPr>
              <a:t>Cut through the AI hype. Map your skills. Build your next-step roadmap.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85" y="4160520"/>
            <a:ext cx="1476825" cy="21842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39518" y="4160520"/>
            <a:ext cx="333800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E5EDF7"/>
                </a:solidFill>
                <a:latin typeface="Aptos"/>
              </a:rPr>
              <a:t>Justin P. </a:t>
            </a:r>
            <a:r>
              <a:rPr lang="en-US" sz="2100" dirty="0" smtClean="0">
                <a:solidFill>
                  <a:srgbClr val="E5EDF7"/>
                </a:solidFill>
                <a:latin typeface="Aptos"/>
              </a:rPr>
              <a:t>Sider</a:t>
            </a:r>
          </a:p>
          <a:p>
            <a:r>
              <a:rPr lang="en-US" sz="1200" dirty="0" smtClean="0">
                <a:solidFill>
                  <a:srgbClr val="E5EDF7"/>
                </a:solidFill>
                <a:latin typeface="Aptos"/>
              </a:rPr>
              <a:t>Chief Information Officer – Belay Technologies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5EDF7"/>
                </a:solidFill>
                <a:latin typeface="Aptos"/>
              </a:rPr>
              <a:t>VMUG – Vice President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5EDF7"/>
                </a:solidFill>
                <a:latin typeface="Aptos"/>
              </a:rPr>
              <a:t>Leader – San Antonio</a:t>
            </a:r>
          </a:p>
          <a:p>
            <a:r>
              <a:rPr lang="en-US" sz="1200" dirty="0" err="1" smtClean="0">
                <a:solidFill>
                  <a:srgbClr val="E5EDF7"/>
                </a:solidFill>
                <a:latin typeface="Aptos"/>
              </a:rPr>
              <a:t>vExpert</a:t>
            </a:r>
            <a:endParaRPr lang="en-US" sz="1200" dirty="0" smtClean="0">
              <a:solidFill>
                <a:srgbClr val="E5EDF7"/>
              </a:solidFill>
              <a:latin typeface="Aptos"/>
            </a:endParaRPr>
          </a:p>
          <a:p>
            <a:r>
              <a:rPr lang="en-US" sz="1200" dirty="0" smtClean="0">
                <a:solidFill>
                  <a:srgbClr val="E5EDF7"/>
                </a:solidFill>
                <a:latin typeface="Aptos"/>
              </a:rPr>
              <a:t>Invoke-</a:t>
            </a:r>
            <a:r>
              <a:rPr lang="en-US" sz="1200" dirty="0" err="1" smtClean="0">
                <a:solidFill>
                  <a:srgbClr val="E5EDF7"/>
                </a:solidFill>
                <a:latin typeface="Aptos"/>
              </a:rPr>
              <a:t>automation.blog</a:t>
            </a:r>
            <a:endParaRPr lang="en-US" sz="1200" dirty="0" smtClean="0">
              <a:solidFill>
                <a:srgbClr val="E5EDF7"/>
              </a:solidFill>
              <a:latin typeface="Aptos"/>
            </a:endParaRPr>
          </a:p>
          <a:p>
            <a:r>
              <a:rPr lang="en-US" sz="1200" dirty="0" err="1" smtClean="0">
                <a:solidFill>
                  <a:srgbClr val="E5EDF7"/>
                </a:solidFill>
                <a:latin typeface="Aptos"/>
              </a:rPr>
              <a:t>Jpsider</a:t>
            </a:r>
            <a:endParaRPr lang="en-US" sz="1200" dirty="0" smtClean="0">
              <a:solidFill>
                <a:srgbClr val="E5EDF7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5EDF7"/>
                </a:solidFill>
                <a:latin typeface="Aptos"/>
              </a:rPr>
              <a:t>Twitter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5EDF7"/>
                </a:solidFill>
                <a:latin typeface="Aptos"/>
              </a:rPr>
              <a:t>GitHub</a:t>
            </a:r>
          </a:p>
          <a:p>
            <a:endParaRPr lang="en-US" sz="1200" dirty="0">
              <a:solidFill>
                <a:srgbClr val="E5EDF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51180" y="4160520"/>
            <a:ext cx="3338003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>
                <a:solidFill>
                  <a:srgbClr val="E5EDF7"/>
                </a:solidFill>
                <a:latin typeface="Aptos"/>
              </a:rPr>
              <a:t>Maarten Van </a:t>
            </a:r>
            <a:r>
              <a:rPr lang="en-US" sz="2100" dirty="0" err="1" smtClean="0">
                <a:solidFill>
                  <a:srgbClr val="E5EDF7"/>
                </a:solidFill>
                <a:latin typeface="Aptos"/>
              </a:rPr>
              <a:t>Driessen</a:t>
            </a:r>
            <a:endParaRPr lang="en-US" sz="2100" dirty="0" smtClean="0">
              <a:solidFill>
                <a:srgbClr val="E5EDF7"/>
              </a:solidFill>
              <a:latin typeface="Aptos"/>
            </a:endParaRPr>
          </a:p>
          <a:p>
            <a:r>
              <a:rPr lang="en-US" sz="1200" dirty="0" smtClean="0">
                <a:solidFill>
                  <a:srgbClr val="E5EDF7"/>
                </a:solidFill>
                <a:latin typeface="Aptos"/>
              </a:rPr>
              <a:t>Freelance Infrastructure Consultant – Unit-D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E5EDF7"/>
                </a:solidFill>
                <a:latin typeface="Aptos"/>
              </a:rPr>
              <a:t>BroadCom</a:t>
            </a:r>
            <a:r>
              <a:rPr lang="en-US" sz="1200" dirty="0" smtClean="0">
                <a:solidFill>
                  <a:srgbClr val="E5EDF7"/>
                </a:solidFill>
                <a:latin typeface="Aptos"/>
              </a:rPr>
              <a:t> Knight</a:t>
            </a:r>
            <a:endParaRPr lang="en-US" sz="1200" dirty="0">
              <a:solidFill>
                <a:srgbClr val="E5EDF7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5EDF7"/>
                </a:solidFill>
                <a:latin typeface="Aptos"/>
              </a:rPr>
              <a:t>VMUG Leader – Belgium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E5EDF7"/>
                </a:solidFill>
                <a:latin typeface="Aptos"/>
              </a:rPr>
              <a:t>vExpert</a:t>
            </a:r>
            <a:r>
              <a:rPr lang="en-US" sz="1200" dirty="0" smtClean="0">
                <a:solidFill>
                  <a:srgbClr val="E5EDF7"/>
                </a:solidFill>
                <a:latin typeface="Aptos"/>
              </a:rPr>
              <a:t>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mtClean="0">
                <a:solidFill>
                  <a:srgbClr val="E5EDF7"/>
                </a:solidFill>
                <a:latin typeface="Aptos"/>
              </a:rPr>
              <a:t>Speaks French!</a:t>
            </a:r>
            <a:endParaRPr lang="en-US" sz="1200" dirty="0" smtClean="0">
              <a:solidFill>
                <a:srgbClr val="E5EDF7"/>
              </a:solidFill>
              <a:latin typeface="Aptos"/>
            </a:endParaRPr>
          </a:p>
          <a:p>
            <a:endParaRPr lang="en-US" sz="1200" dirty="0">
              <a:solidFill>
                <a:srgbClr val="E5EDF7"/>
              </a:solidFill>
              <a:latin typeface="Apto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829" y="4102097"/>
            <a:ext cx="2389060" cy="2242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Translate the work you already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The goal is not to start over—it’s to extend proven operational thinking into cloud-native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246120" cy="502920"/>
          </a:xfrm>
          <a:prstGeom prst="round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075688"/>
            <a:ext cx="3026663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D"/>
                </a:solidFill>
                <a:latin typeface="Aptos"/>
              </a:rPr>
              <a:t>VIADMIN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965960"/>
            <a:ext cx="3520440" cy="502920"/>
          </a:xfrm>
          <a:prstGeom prst="round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0248" y="2075688"/>
            <a:ext cx="3300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D"/>
                </a:solidFill>
                <a:latin typeface="Aptos"/>
              </a:rPr>
              <a:t>CLOUD EQUIVALENT TO EXPLORE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965960"/>
            <a:ext cx="3566160" cy="502920"/>
          </a:xfrm>
          <a:prstGeom prst="round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2075688"/>
            <a:ext cx="33467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D"/>
                </a:solidFill>
                <a:latin typeface="Aptos"/>
              </a:rPr>
              <a:t>NEW QUESTIONS TO 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24612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688336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VM provisioning &amp; 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606040"/>
            <a:ext cx="352044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2688336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Compute instances, images, IaC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606040"/>
            <a:ext cx="356616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2688336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How is desired state defined and reviewed?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27832"/>
            <a:ext cx="3246120" cy="539496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310128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Clusters, HA &amp;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227832"/>
            <a:ext cx="3520440" cy="539496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0248" y="3310128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Regions/zones, autoscaling, quotas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3227832"/>
            <a:ext cx="3566160" cy="539496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3310128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What are the failure domains and limits?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849624"/>
            <a:ext cx="324612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931920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Networks &amp; port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849624"/>
            <a:ext cx="352044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70248" y="3931920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VPC/VNet, subnets, routes, security 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849624"/>
            <a:ext cx="356616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9288" y="3931920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Who owns connectivity and policy?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471416"/>
            <a:ext cx="3246120" cy="539496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4553712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Datastores &amp; storage tiers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471416"/>
            <a:ext cx="3520440" cy="539496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70248" y="4553712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Object/block/file storage, lifecycle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471416"/>
            <a:ext cx="3566160" cy="539496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19288" y="4553712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What drives durability, performance, and cost?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093208"/>
            <a:ext cx="324612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5175504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Monitoring &amp; troubleshooting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5093208"/>
            <a:ext cx="352044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70248" y="5175504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Cloud-native telemetry, logs, traces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60" y="5093208"/>
            <a:ext cx="3566160" cy="539496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9288" y="5175504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How do we connect signals to service health?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Cloud administration adds new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Use this as a prompt list, not a checklist everyone must master at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520440" cy="1280160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167128"/>
            <a:ext cx="64008" cy="106070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Identity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Roles, policies, workload identity, least privilege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57400"/>
            <a:ext cx="3520440" cy="1280160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167128"/>
            <a:ext cx="64008" cy="106070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22199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Infrastructure as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15768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Reusable templates, version control, plan/apply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57400"/>
            <a:ext cx="3520440" cy="1280160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2167128"/>
            <a:ext cx="64008" cy="106070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222199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Networking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715768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Cloud boundaries, private connectivity, zero-trust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30168"/>
            <a:ext cx="3520440" cy="1280160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39896"/>
            <a:ext cx="64008" cy="106070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794759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Observability &amp;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88536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Service-level objectives, telemetry, incident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30168"/>
            <a:ext cx="3520440" cy="1280160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739896"/>
            <a:ext cx="64008" cy="106070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794759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Cost &amp;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288536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Budgets, tagging, chargeback/showback, policy guardrails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630168"/>
            <a:ext cx="3520440" cy="1280160"/>
          </a:xfrm>
          <a:prstGeom prst="round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739896"/>
            <a:ext cx="64008" cy="106070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794759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Containers &amp; platform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288536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Know when VMs are right—and when managed services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smtClean="0">
                <a:solidFill>
                  <a:srgbClr val="F8FAFD"/>
                </a:solidFill>
                <a:latin typeface="Aptos"/>
              </a:rPr>
              <a:t>Which </a:t>
            </a:r>
            <a:r>
              <a:rPr sz="1600" b="1" i="0" dirty="0">
                <a:solidFill>
                  <a:srgbClr val="F8FAFD"/>
                </a:solidFill>
                <a:latin typeface="Aptos"/>
              </a:rPr>
              <a:t>of these is already part of your job? Which one causes the most uncertainty?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23960" y="0"/>
            <a:ext cx="3364992" cy="6858000"/>
          </a:xfrm>
          <a:prstGeom prst="roundRect">
            <a:avLst/>
          </a:prstGeom>
          <a:solidFill>
            <a:srgbClr val="1B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64040" y="731520"/>
            <a:ext cx="1828800" cy="1737360"/>
          </a:xfrm>
          <a:prstGeom prst="roundRect">
            <a:avLst/>
          </a:prstGeom>
          <a:solidFill>
            <a:srgbClr val="36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95560" y="2743200"/>
            <a:ext cx="1143000" cy="1143000"/>
          </a:xfrm>
          <a:prstGeom prst="round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98280" y="4389120"/>
            <a:ext cx="2148840" cy="1097280"/>
          </a:xfrm>
          <a:prstGeom prst="roundRect">
            <a:avLst/>
          </a:prstGeom>
          <a:solidFill>
            <a:srgbClr val="2C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1554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3600" b="1">
                <a:solidFill>
                  <a:srgbClr val="FAFCFF"/>
                </a:solidFill>
                <a:latin typeface="Aptos"/>
              </a:rPr>
              <a:t>AI BUZZWORDS,
DECODED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80360"/>
            <a:ext cx="7132320" cy="381643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000" b="0" dirty="0">
                <a:solidFill>
                  <a:srgbClr val="AABBCF"/>
                </a:solidFill>
                <a:latin typeface="Aptos"/>
              </a:rPr>
              <a:t>What the terms mean, what the technology </a:t>
            </a:r>
            <a:r>
              <a:rPr sz="2000" b="0" dirty="0" smtClean="0">
                <a:solidFill>
                  <a:srgbClr val="AABBCF"/>
                </a:solidFill>
                <a:latin typeface="Aptos"/>
              </a:rPr>
              <a:t>does</a:t>
            </a:r>
            <a:endParaRPr sz="2000" b="0" dirty="0">
              <a:solidFill>
                <a:srgbClr val="AABBC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4176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The problem with AI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 same label can describe very different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MARKETING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Words like “intelligent,” “autonomous,” and “agentic” sound precise—but often are not.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Vendors may use the same term for different architectures and levels of maturity.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 demo proves a workflow can work once; it does not prove production reliability.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THE PRACTICAL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Ask what the system actually does, using which data and models.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Separate a capability from a product feature and from a business outcome.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Demand measurable results, clear limits, and a safe failure mode.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Translate every buzzword into a behavior you can test.</a:t>
            </a:r>
          </a:p>
        </p:txBody>
      </p:sp>
    </p:spTree>
    <p:extLst>
      <p:ext uri="{BB962C8B-B14F-4D97-AF65-F5344CB8AC3E}">
        <p14:creationId xmlns:p14="http://schemas.microsoft.com/office/powerpoint/2010/main" val="9448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 quick map of the AI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These terms are related, but they are not interchangeable.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746504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3670BE"/>
                </a:solidFill>
                <a:latin typeface="Aptos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Broad field: systems performing tasks associated with human intelligence.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600200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4536" y="1746504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2A99B"/>
                </a:solidFill>
                <a:latin typeface="Aptos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4536" y="2103120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Models learn patterns from examples or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81528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227832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3670BE"/>
                </a:solidFill>
                <a:latin typeface="Aptos"/>
              </a:rP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84448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Machine learning using multi-layer neural networks.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3368" y="3081528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3227832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2A99B"/>
                </a:solidFill>
                <a:latin typeface="Aptos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3584448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Creates content such as text, images, audio, or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62856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709160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3670BE"/>
                </a:solidFill>
                <a:latin typeface="Aptos"/>
              </a:rPr>
              <a:t>Foundation model /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065776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Broadly trained model; LLMs focus on language.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4562856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4709160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2A99B"/>
                </a:solidFill>
                <a:latin typeface="Aptos"/>
              </a:rPr>
              <a:t>AI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5065776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The product workflow around a model: data, tools, controls, and UI.</a:t>
            </a:r>
          </a:p>
        </p:txBody>
      </p:sp>
    </p:spTree>
    <p:extLst>
      <p:ext uri="{BB962C8B-B14F-4D97-AF65-F5344CB8AC3E}">
        <p14:creationId xmlns:p14="http://schemas.microsoft.com/office/powerpoint/2010/main" val="4204477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Machine learning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Most AI systems depend on patterns learned from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TERMS YOU'LL HEAR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Training: adjusting a model using examples.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Inference: using a trained model to produce an output.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Supervised learning: learning from labeled examples.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Unsupervised learning: finding structure without target labels.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Reinforcement learning: learning through actions, feedback, or rewards.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TO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What data was used—and is it representative of our environment?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What does good performance mean, and how is it measured?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Does the system need retraining as conditions change?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Can results be explained, audited, or reproduced?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A model learns statistical patterns; it does not automatically understand your business.</a:t>
            </a:r>
          </a:p>
        </p:txBody>
      </p:sp>
    </p:spTree>
    <p:extLst>
      <p:ext uri="{BB962C8B-B14F-4D97-AF65-F5344CB8AC3E}">
        <p14:creationId xmlns:p14="http://schemas.microsoft.com/office/powerpoint/2010/main" val="318803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Generative AI, LLMs, and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Generative systems produce outputs based on learned patterns and supplied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Generative AI: creates content rather than only classifying or scoring.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LLM: large language model, designed to process and generate language.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Token: a chunk of text processed by a model; not always a whole word.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Context window: the input and conversation a model can consider at once.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Multimodal: handles more than one data type, such as text, images, or audio.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IT MEANS IN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Longer context can help, but does not guarantee perfect recall.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 model may summarize logs or draft scripts, but can omit details.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Multimodal does not mean it can interpret every file accurately.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Output quality depends on prompt, context, model, and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Fluent output is not proof of factual accuracy.</a:t>
            </a:r>
          </a:p>
        </p:txBody>
      </p:sp>
    </p:spTree>
    <p:extLst>
      <p:ext uri="{BB962C8B-B14F-4D97-AF65-F5344CB8AC3E}">
        <p14:creationId xmlns:p14="http://schemas.microsoft.com/office/powerpoint/2010/main" val="239785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Hallucinations, grounding, and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 confident answer can still be wrong. Grounding connects responses to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Hallucination: plausible-sounding output that is false or unsupported.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Grounding: tying a response to trusted data or evidence.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RAG: retrieval-augmented generation; retrieve sources, then generate an answer.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Embedding: numerical representation used to compare semantic similarity.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Vector database: stores and searches vectors, often for similarity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IT DOES—AND DOESN'T—SOLVE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RAG can improve access to current or private documents.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Retrieval can return irrelevant, stale, or incomplete material.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Citations help only if they point to evidence that supports the claim.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RAG does not retrain the model or guarantee truth.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Check the source, not just the answer.</a:t>
            </a:r>
          </a:p>
        </p:txBody>
      </p:sp>
    </p:spTree>
    <p:extLst>
      <p:ext uri="{BB962C8B-B14F-4D97-AF65-F5344CB8AC3E}">
        <p14:creationId xmlns:p14="http://schemas.microsoft.com/office/powerpoint/2010/main" val="4186451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Prompting, fine-tuning, and model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Different techniques change different parts of the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Prompt engineering: structuring instructions and context.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System prompt: high-level behavior instructions for an application.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Few-shot prompting: showing examples in the prompt.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Fine-tuning: further training a model on task-specific examples.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Distillation: transferring behavior from a larger model to a smaller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WHEN EACH MAY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Prompting is often the fastest way to improve a workflow.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Few-shot examples can clarify desired format or style.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Fine-tuning may help specialized behavior—not live facts.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Smaller models may reduce cost and latency for bounded tasks.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Test alternatives against representative tasks, not cherry-picked demos.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357" y="5924780"/>
            <a:ext cx="10703363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Do not fine-tune to solve a problem that better data or instructions would fix.</a:t>
            </a:r>
          </a:p>
        </p:txBody>
      </p:sp>
    </p:spTree>
    <p:extLst>
      <p:ext uri="{BB962C8B-B14F-4D97-AF65-F5344CB8AC3E}">
        <p14:creationId xmlns:p14="http://schemas.microsoft.com/office/powerpoint/2010/main" val="1584782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AI agents and agentic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“Agent” is one of the most overused terms in AI marketing.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AI agent: a system that uses a model to pursue a goal, often with tools.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Agentic workflow: multi-step process where the system selects actions dynamically.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Tool/function calling: model requests an application to run a defined operation.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Planning: breaking a goal into steps or selecting the next action.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Multi-agent: multiple agents or roles coordinate on a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REALITY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An agent is not automatically independent, reliable, or safe.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Tools determine what it can actually read, change, or execute.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More steps create more opportunities for errors and drift.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Use bounded permissions, approval gates, timeouts, and audit logs.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Start with a workflow that has a clear success test and rollback.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An agent is an automation design pattern—not a digital employee.</a:t>
            </a:r>
          </a:p>
        </p:txBody>
      </p:sp>
    </p:spTree>
    <p:extLst>
      <p:ext uri="{BB962C8B-B14F-4D97-AF65-F5344CB8AC3E}">
        <p14:creationId xmlns:p14="http://schemas.microsoft.com/office/powerpoint/2010/main" val="606662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Copilots, assistants, chatbots, and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These labels describe user experience more than a specific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COMMON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Chatbot: conversational interface; may be scripted or model-powered.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AI assistant: helps answer, draft, summarize, or perform tasks.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Copilot: assists a person inside a workflow, often with contextual access.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Autopilot: implies actions can happen with less human intervention.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Human-in-the-loop: a person reviews or approves part of the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QUESTIONS THAT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Does it only suggest, or can it execute changes?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What data can it see, and under whose identity?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Where is human approval required?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Can users inspect what it did and reverse the action?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Is it useful inside the tools the team already uses?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Ignore the label; map the permissions and actual workflow.</a:t>
            </a:r>
          </a:p>
        </p:txBody>
      </p:sp>
    </p:spTree>
    <p:extLst>
      <p:ext uri="{BB962C8B-B14F-4D97-AF65-F5344CB8AC3E}">
        <p14:creationId xmlns:p14="http://schemas.microsoft.com/office/powerpoint/2010/main" val="2038873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AIOps, predictive operations, and “self-healing”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AI can help detect patterns—but autonomous remediation needs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AIOps: applying analytics/ML/AI to IT operations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Anomaly detection: identifying behavior that differs from a baseline.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Predictive analytics: estimating future events or conditions from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Root-cause analysis: narrowing possible causes of an incident.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Self-healing: detecting an issue and triggering corrective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TO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Does it reduce alert noise or just create another dashboard?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Are predictions calibrated and early enough to act on?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Can it explain evidence behind a suggested cause?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Are remediations tested, scoped, and reversible?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Measure false positives, missed incidents, and time-to-resolution.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“Self-healing” should mean a defined recovery path, not unchecked change.</a:t>
            </a:r>
          </a:p>
        </p:txBody>
      </p:sp>
    </p:spTree>
    <p:extLst>
      <p:ext uri="{BB962C8B-B14F-4D97-AF65-F5344CB8AC3E}">
        <p14:creationId xmlns:p14="http://schemas.microsoft.com/office/powerpoint/2010/main" val="2223113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Data, vector search, and synthetic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 quality and permissions of data often matter as much as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Data pipeline: moves and transforms data for downstream use.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Data lake / warehouse: stores data for different processing and analytics needs.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Synthetic data: artificially generated data used for testing or training.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Knowledge graph: represents entities and relationships explicitly.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Semantic search: searches by meaning or similarity, not only exact keywords.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WATCH OUT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Stale, duplicated, or poorly labeled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Sensitive data copied into embeddings, logs, or prompts.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Synthetic data that repeats bias or misses real-world edge cases.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Permissions that are lost when documents are indexed.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 polished search experience over incomplete source material.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If the data is wrong, AI can make the wrong answer easier to find.</a:t>
            </a:r>
          </a:p>
        </p:txBody>
      </p:sp>
    </p:spTree>
    <p:extLst>
      <p:ext uri="{BB962C8B-B14F-4D97-AF65-F5344CB8AC3E}">
        <p14:creationId xmlns:p14="http://schemas.microsoft.com/office/powerpoint/2010/main" val="95974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Responsible AI, guardrails, and red teaming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Responsible use is an engineering discipline, not a checkbox.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Guardrails: controls that constrain inputs, outputs, or actions.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Red teaming: deliberately probing a system for weaknesses.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Prompt injection: malicious instructions embedded in input or retrieved content.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PII: personally identifiable information.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AI governance: policies, accountability, risk management, and oversight.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CONTROLS TO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Least-privilege access and separation of duties.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Data classification, retention rules, and vendor-use clarity.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Evaluation for bias, unsafe output, and prompt injection.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Logging that supports audit without retaining unnecessary secrets.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 way to disable the feature and fall back to a known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Treat model output and retrieved content as untrusted input.</a:t>
            </a:r>
          </a:p>
        </p:txBody>
      </p:sp>
    </p:spTree>
    <p:extLst>
      <p:ext uri="{BB962C8B-B14F-4D97-AF65-F5344CB8AC3E}">
        <p14:creationId xmlns:p14="http://schemas.microsoft.com/office/powerpoint/2010/main" val="384261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AI security and enterprise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AI adds new attack surfaces; it does not replace security fundamentals.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TERMS IN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Model security: protecting models, weights, APIs, and serving infrastructure.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Data leakage: sensitive information exposed through prompts, outputs, or logs.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Jailbreak: attempt to bypass intended restrictions.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On-prem / private AI: deployment or controls designed for a chosen boundary.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Sovereign AI: broad term for control over data, infrastructure, and jurisdiction.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DEPLOYMENT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Where do prompts, files, telemetry, and outputs travel?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Are inputs used to train or improve a provider's models?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What identity and network controls protect model endpoints?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How are model versions, dependencies, and vulnerabilities managed?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What does “private” mean contractually and technically?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Ask for a data-flow diagram and security boundaries—not a privacy slogan.</a:t>
            </a:r>
          </a:p>
        </p:txBody>
      </p:sp>
    </p:spTree>
    <p:extLst>
      <p:ext uri="{BB962C8B-B14F-4D97-AF65-F5344CB8AC3E}">
        <p14:creationId xmlns:p14="http://schemas.microsoft.com/office/powerpoint/2010/main" val="659332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Latency, throughput, inference cost, and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 model that works in a demo may not fit production budgets or service levels.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Latency: time between request and response.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Throughput: amount of work completed per unit of time.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Inference cost: cost of running the model for requests.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Quantization: reducing numerical precision to lower memory/compute needs.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Edge AI: running AI on or near the device where data is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MEASURE IN YOUR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Typical and worst-case response times.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Cost per useful task—not only cost per token.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Quality changes after quantization or model compression.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Peak load, concurrency, and capacity headroom.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Operational costs: GPUs, power, cooling, storage, and staff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Benchmark end-to-end outcomes under realistic load.</a:t>
            </a:r>
          </a:p>
        </p:txBody>
      </p:sp>
    </p:spTree>
    <p:extLst>
      <p:ext uri="{BB962C8B-B14F-4D97-AF65-F5344CB8AC3E}">
        <p14:creationId xmlns:p14="http://schemas.microsoft.com/office/powerpoint/2010/main" val="3932948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66928"/>
            <a:ext cx="1106424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MCP: a standard way for AI to connect to tools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972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BECADA"/>
                </a:solidFill>
                <a:latin typeface="Aptos"/>
              </a:defRPr>
            </a:pPr>
            <a:r>
              <a:rPr>
                <a:latin typeface="Aptos"/>
              </a:rPr>
              <a:t>Model Context Protocol (MCP) defines a common way for AI applications to connect with external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3429000" cy="1298448"/>
          </a:xfrm>
          <a:prstGeom prst="roundRect">
            <a:avLst/>
          </a:prstGeom>
          <a:solidFill>
            <a:srgbClr val="192B44"/>
          </a:solidFill>
          <a:ln>
            <a:solidFill>
              <a:srgbClr val="19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29384"/>
            <a:ext cx="30906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ptos"/>
              </a:defRPr>
            </a:pPr>
            <a:r>
              <a:rPr>
                <a:latin typeface="Aptos"/>
              </a:rPr>
              <a:t>AI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58568"/>
            <a:ext cx="3090672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The host experience</a:t>
            </a:r>
            <a:r>
              <a:t/>
            </a:r>
            <a:br/>
            <a:r>
              <a:rPr>
                <a:latin typeface="Aptos"/>
              </a:rPr>
              <a:t>An assistant, IDE, or AI-enabled admin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29000" cy="1298448"/>
          </a:xfrm>
          <a:prstGeom prst="roundRect">
            <a:avLst/>
          </a:prstGeom>
          <a:solidFill>
            <a:srgbClr val="192B44"/>
          </a:solidFill>
          <a:ln>
            <a:solidFill>
              <a:srgbClr val="19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1929384"/>
            <a:ext cx="30906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MCP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58568"/>
            <a:ext cx="3090672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Manages the connection</a:t>
            </a:r>
            <a:r>
              <a:t/>
            </a:r>
            <a:br/>
            <a:r>
              <a:rPr>
                <a:latin typeface="Aptos"/>
              </a:rPr>
              <a:t>Requests available tools, resources, and prompts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83080"/>
            <a:ext cx="3429000" cy="1298448"/>
          </a:xfrm>
          <a:prstGeom prst="roundRect">
            <a:avLst/>
          </a:prstGeom>
          <a:solidFill>
            <a:srgbClr val="192B44"/>
          </a:solidFill>
          <a:ln>
            <a:solidFill>
              <a:srgbClr val="19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1929384"/>
            <a:ext cx="30906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rPr>
                <a:latin typeface="Aptos"/>
              </a:rP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258568"/>
            <a:ext cx="3090672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Exposes capabilities</a:t>
            </a:r>
            <a:r>
              <a:t/>
            </a:r>
            <a:br/>
            <a:r>
              <a:rPr>
                <a:latin typeface="Aptos"/>
              </a:rPr>
              <a:t>Connects to approved APIs, files, monitoring, or automation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96512" y="2267712"/>
            <a:ext cx="228600" cy="256032"/>
          </a:xfrm>
          <a:prstGeom prst="rightArrow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845552" y="2267712"/>
            <a:ext cx="228600" cy="256032"/>
          </a:xfrm>
          <a:prstGeom prst="rightArrow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" y="3346704"/>
            <a:ext cx="5413248" cy="2331720"/>
          </a:xfrm>
          <a:prstGeom prst="roundRect">
            <a:avLst/>
          </a:prstGeom>
          <a:solidFill>
            <a:srgbClr val="1E344E"/>
          </a:solidFill>
          <a:ln>
            <a:solidFill>
              <a:srgbClr val="1E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538728"/>
            <a:ext cx="49377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WHAT MCP CAN EXPOSE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931920"/>
            <a:ext cx="1024128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31920"/>
            <a:ext cx="3858768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BECADA"/>
                </a:solidFill>
                <a:latin typeface="Aptos"/>
              </a:defRPr>
            </a:pPr>
            <a:r>
              <a:rPr>
                <a:latin typeface="Aptos"/>
              </a:rPr>
              <a:t>Actions a model can request, such as querying a system or starting a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462272"/>
            <a:ext cx="1024128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62272"/>
            <a:ext cx="3858768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BECADA"/>
                </a:solidFill>
                <a:latin typeface="Aptos"/>
              </a:defRPr>
            </a:pPr>
            <a:r>
              <a:rPr>
                <a:latin typeface="Aptos"/>
              </a:rPr>
              <a:t>Context an application can retrieve, such as documentation or inventory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992624"/>
            <a:ext cx="1024128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992624"/>
            <a:ext cx="3858768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BECADA"/>
                </a:solidFill>
                <a:latin typeface="Aptos"/>
              </a:defRPr>
            </a:pPr>
            <a:r>
              <a:rPr>
                <a:latin typeface="Aptos"/>
              </a:rPr>
              <a:t>Reusable prompt templates or guided task patterns.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346704"/>
            <a:ext cx="5312664" cy="2331720"/>
          </a:xfrm>
          <a:prstGeom prst="roundRect">
            <a:avLst/>
          </a:prstGeom>
          <a:solidFill>
            <a:srgbClr val="1E344E"/>
          </a:solidFill>
          <a:ln>
            <a:solidFill>
              <a:srgbClr val="1E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5664" y="3538728"/>
            <a:ext cx="484632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Aptos"/>
              </a:defRPr>
            </a:pPr>
            <a:r>
              <a:rPr>
                <a:latin typeface="Aptos"/>
              </a:rPr>
              <a:t>WHY ADMINS SHOULD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292608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950208"/>
            <a:ext cx="4443984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A consistent integration pattern across compatible AI clients and systems.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480560"/>
            <a:ext cx="292608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4480560"/>
            <a:ext cx="4443984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Can connect AI workflows to operational data and approved 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010912"/>
            <a:ext cx="292608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5010912"/>
            <a:ext cx="4443984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F4F7FB"/>
                </a:solidFill>
                <a:latin typeface="Aptos"/>
              </a:defRPr>
            </a:pPr>
            <a:r>
              <a:rPr>
                <a:latin typeface="Aptos"/>
              </a:rPr>
              <a:t>Does not make a model more accurate or make an integration inherently safe.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Open source, open weights, and foundation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These terms are often used loosely and are not equivalent.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DISTINCTIONS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Foundation model: broadly trained model that can support many tasks.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Open weights: model parameters are available under a license.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Open source AI: access to code, data, and reproducibility varies by definition.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Proprietary model: controlled by a vendor, often accessed through a service.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Small language model (SLM): smaller model optimized for narrower tasks or constrained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DECISION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License rights and usage restrictions.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Ability to host, tune, inspect, and update the model.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Support, patch cadence, and security response.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Hardware requirements and expected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Total cost and exit strategy if the provider changes terms.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“Open” is not a complete answer—read the license and deployment terms.</a:t>
            </a:r>
          </a:p>
        </p:txBody>
      </p:sp>
    </p:spTree>
    <p:extLst>
      <p:ext uri="{BB962C8B-B14F-4D97-AF65-F5344CB8AC3E}">
        <p14:creationId xmlns:p14="http://schemas.microsoft.com/office/powerpoint/2010/main" val="2453129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Translate the pitch into testable claims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Use this table in vendor briefings, demos, and architecture reviews.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27080" cy="621792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82495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“Autonomous”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64208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Which actions can it take without approval?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64208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Permission matrix + audit trail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95144"/>
            <a:ext cx="10927080" cy="621792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“Real-time intelligence”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86584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is the data freshness and end-to-end latency?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86584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Timestamped test under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10927080" cy="621792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127248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“Predictive”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08960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outcome is predicted, how early, and with what accuracy?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108960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Backtest + false-positive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39896"/>
            <a:ext cx="10927080" cy="621792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“Self-healing”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31335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Which failures are detected and what recovery is safe?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831335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Failure injection + rollback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62272"/>
            <a:ext cx="10927080" cy="621792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“Enterprise-grade”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553712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Which scale, security, availability, and support commitments?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553712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SLOs, controls, contract terms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84648"/>
            <a:ext cx="10927080" cy="621792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294376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“Private / secure AI”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76088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Where does data flow, persist, and get processed?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276088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Data-flow diagram + retention terms</a:t>
            </a:r>
          </a:p>
        </p:txBody>
      </p:sp>
    </p:spTree>
    <p:extLst>
      <p:ext uri="{BB962C8B-B14F-4D97-AF65-F5344CB8AC3E}">
        <p14:creationId xmlns:p14="http://schemas.microsoft.com/office/powerpoint/2010/main" val="3100861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 sensible path from demo to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Treat AI as a system to engineer, test, operate, and improve.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Choose a narrow, repetitive, measurable workflow.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Establish a non-AI baseline for quality, time, and cost.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Use representative, permissioned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Run in advisory or read-only mode first.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Define unacceptable outcomes before the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SCALE WITH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Evaluate accuracy and failure cases continuously.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Add approval gates before high-impact changes.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Monitor quality, drift, latency, usage, and cost.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Version prompts, models, data sources, and workflows.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rPr>
                <a:latin typeface="Aptos"/>
              </a:rPr>
              <a:t>•  Document ownership, rollback, incident response, and exit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07024"/>
            <a:ext cx="10634472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A successful pilot is evidence—not automatic permission to scale.</a:t>
            </a:r>
          </a:p>
        </p:txBody>
      </p:sp>
    </p:spTree>
    <p:extLst>
      <p:ext uri="{BB962C8B-B14F-4D97-AF65-F5344CB8AC3E}">
        <p14:creationId xmlns:p14="http://schemas.microsoft.com/office/powerpoint/2010/main" val="474105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The AI evaluation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Before buying or building, get clear answers to these six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1.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measurable problem does this solve?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75564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2.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031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How was performance tested on our tasks and 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1752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17296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3.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52043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can it read, write, execute, and share?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1752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317296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4.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52043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How does it fail, recover, and communicate uncertainty?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59028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5.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93775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is the full cost at expected scale?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43484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459028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6.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93775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Who monitors it, approves changes, and is accountable?</a:t>
            </a:r>
          </a:p>
        </p:txBody>
      </p:sp>
    </p:spTree>
    <p:extLst>
      <p:ext uri="{BB962C8B-B14F-4D97-AF65-F5344CB8AC3E}">
        <p14:creationId xmlns:p14="http://schemas.microsoft.com/office/powerpoint/2010/main" val="1679956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89365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US" sz="2700" b="1" dirty="0">
                <a:solidFill>
                  <a:srgbClr val="FAFCFF"/>
                </a:solidFill>
                <a:latin typeface="Aptos"/>
              </a:rPr>
              <a:t>T</a:t>
            </a:r>
            <a:r>
              <a:rPr sz="2700" b="1" dirty="0" smtClean="0">
                <a:solidFill>
                  <a:srgbClr val="FAFCFF"/>
                </a:solidFill>
                <a:latin typeface="Aptos"/>
              </a:rPr>
              <a:t>erms </a:t>
            </a:r>
            <a:r>
              <a:rPr sz="2700" b="1" dirty="0">
                <a:solidFill>
                  <a:srgbClr val="FAFCFF"/>
                </a:solidFill>
                <a:latin typeface="Aptos"/>
              </a:rPr>
              <a:t>worth knowing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8568" y="144475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Interface that lets software request a service or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144475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Repeatable test used to compare performance or 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10312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Systematic skew in data, predictions, or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10312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Methods for inspecting why a model produced an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Evaluation / evals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761488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Tests that measure model or workflow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61488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761488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Additional training to adapt model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19856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3419856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Running a trained model to produce a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19856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Model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419856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Performance changes as data or conditions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MoE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4078224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Mixture of experts: routes inputs to model sub-networks.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78224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NLP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4078224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Natural language processing: techniques for human language.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3659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8568" y="473659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Learned numerical values inside a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3659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RLHF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473659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Reinforcement learning from human feedback.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9496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58568" y="539496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Sampling setting that can influence output variability.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39496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Zero-shot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539496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Asking a model to perform a task without examples in the prompt.</a:t>
            </a:r>
          </a:p>
        </p:txBody>
      </p:sp>
    </p:spTree>
    <p:extLst>
      <p:ext uri="{BB962C8B-B14F-4D97-AF65-F5344CB8AC3E}">
        <p14:creationId xmlns:p14="http://schemas.microsoft.com/office/powerpoint/2010/main" val="3147100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13232"/>
            <a:ext cx="36576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22A99B"/>
                </a:solidFill>
                <a:latin typeface="Aptos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9784080" cy="1508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3400" b="1">
                <a:solidFill>
                  <a:srgbClr val="FAFCFF"/>
                </a:solidFill>
                <a:latin typeface="Aptos"/>
              </a:rPr>
              <a:t>Don’t buy the buzzword.
Validate the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337560"/>
            <a:ext cx="896112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000" b="0">
                <a:solidFill>
                  <a:srgbClr val="AABBCF"/>
                </a:solidFill>
                <a:latin typeface="Aptos"/>
              </a:rPr>
              <a:t>Ask what it does. Test it on your data. Bound its permissions.
Measure the outcome. Plan for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4983480"/>
            <a:ext cx="91440" cy="731520"/>
          </a:xfrm>
          <a:prstGeom prst="rect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074920"/>
            <a:ext cx="4572000" cy="457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800" b="1">
                <a:solidFill>
                  <a:srgbClr val="FAFCFF"/>
                </a:solidFill>
                <a:latin typeface="Aptos"/>
              </a:rPr>
              <a:t>Questions / discussion</a:t>
            </a:r>
          </a:p>
        </p:txBody>
      </p:sp>
    </p:spTree>
    <p:extLst>
      <p:ext uri="{BB962C8B-B14F-4D97-AF65-F5344CB8AC3E}">
        <p14:creationId xmlns:p14="http://schemas.microsoft.com/office/powerpoint/2010/main" val="243441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3195</Words>
  <Application>Microsoft Office PowerPoint</Application>
  <PresentationFormat>Widescreen</PresentationFormat>
  <Paragraphs>366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VIAdmin to Cloud Admin: Cut Through the AI Hype</dc:title>
  <dc:subject>Interactive roundtable deck aligned to abstract and key takeaways</dc:subject>
  <dc:creator>OpenAI</dc:creator>
  <cp:keywords>VIAdmin, cloud administration, AI, hybrid cloud, roundtable</cp:keywords>
  <dc:description>generated using python-pptx</dc:description>
  <cp:lastModifiedBy>justin sider</cp:lastModifiedBy>
  <cp:revision>13</cp:revision>
  <dcterms:created xsi:type="dcterms:W3CDTF">2013-01-27T09:14:16Z</dcterms:created>
  <dcterms:modified xsi:type="dcterms:W3CDTF">2026-10-15T10:23:55Z</dcterms:modified>
  <cp:category/>
</cp:coreProperties>
</file>