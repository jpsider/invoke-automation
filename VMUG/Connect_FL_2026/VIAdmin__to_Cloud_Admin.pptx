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62" r:id="rId3"/>
    <p:sldId id="263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9" r:id="rId19"/>
    <p:sldId id="283" r:id="rId20"/>
    <p:sldId id="284" r:id="rId21"/>
    <p:sldId id="285" r:id="rId22"/>
    <p:sldId id="286" r:id="rId23"/>
    <p:sldId id="287" r:id="rId24"/>
    <p:sldId id="28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61A44B-9D4E-4251-BADA-8E10D2D2A37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588BD5-3D99-4869-9E38-E25CB82AE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3465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Suggested delivery: 30 minutes including discussion. Frame this as a translation guide, not a complete taxonomy of every AI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80073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that labels vary by vendor. Bring the discussion back to observable behavior and measurable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720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the audience to name one task they would and would not let an agent perform. Highlight permissions and 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994104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For infrastructure teams, distinguish alerting/analytics from remediation. Autonomous action should be earned through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1894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slide as a live vendor-question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08587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six questions. Invite the audience to use these as an evaluation scorecard.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3682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464040" y="640080"/>
            <a:ext cx="1188720" cy="1188720"/>
          </a:xfrm>
          <a:prstGeom prst="ellipse">
            <a:avLst/>
          </a:prstGeom>
          <a:solidFill>
            <a:srgbClr val="377B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87000" y="1463040"/>
            <a:ext cx="594360" cy="594360"/>
          </a:xfrm>
          <a:prstGeom prst="ellipse">
            <a:avLst/>
          </a:prstGeom>
          <a:solidFill>
            <a:srgbClr val="43C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823960" y="1965960"/>
            <a:ext cx="411480" cy="411480"/>
          </a:xfrm>
          <a:prstGeom prst="ellipse">
            <a:avLst/>
          </a:prstGeom>
          <a:solidFill>
            <a:srgbClr val="F6A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41280" y="2743200"/>
            <a:ext cx="1051560" cy="1051560"/>
          </a:xfrm>
          <a:prstGeom prst="ellipse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234440"/>
            <a:ext cx="813816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8FAFD"/>
                </a:solidFill>
                <a:latin typeface="Aptos"/>
              </a:rPr>
              <a:t>From VIAdmin
to Cloud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154680"/>
            <a:ext cx="76809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 dirty="0">
                <a:solidFill>
                  <a:srgbClr val="E5EDF7"/>
                </a:solidFill>
                <a:latin typeface="Aptos"/>
              </a:rPr>
              <a:t>Cut through the AI hype. Map your skills. Build your next-step roadmap.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385" y="4160520"/>
            <a:ext cx="1476825" cy="21842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39518" y="4160520"/>
            <a:ext cx="3338003" cy="2077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solidFill>
                  <a:srgbClr val="E5EDF7"/>
                </a:solidFill>
                <a:latin typeface="Aptos"/>
              </a:rPr>
              <a:t>Justin P. </a:t>
            </a:r>
            <a:r>
              <a:rPr lang="en-US" sz="2100" dirty="0" smtClean="0">
                <a:solidFill>
                  <a:srgbClr val="E5EDF7"/>
                </a:solidFill>
                <a:latin typeface="Aptos"/>
              </a:rPr>
              <a:t>Sider</a:t>
            </a:r>
          </a:p>
          <a:p>
            <a:r>
              <a:rPr lang="en-US" sz="1200" dirty="0" smtClean="0">
                <a:solidFill>
                  <a:srgbClr val="E5EDF7"/>
                </a:solidFill>
                <a:latin typeface="Aptos"/>
              </a:rPr>
              <a:t>Chief Information Officer – Belay Technologies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VMUG – Vice President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Leader – San Antonio</a:t>
            </a:r>
          </a:p>
          <a:p>
            <a:r>
              <a:rPr lang="en-US" sz="1200" dirty="0" err="1" smtClean="0">
                <a:solidFill>
                  <a:srgbClr val="E5EDF7"/>
                </a:solidFill>
                <a:latin typeface="Aptos"/>
              </a:rPr>
              <a:t>vExpert</a:t>
            </a:r>
            <a:endParaRPr lang="en-US" sz="1200" dirty="0" smtClean="0">
              <a:solidFill>
                <a:srgbClr val="E5EDF7"/>
              </a:solidFill>
              <a:latin typeface="Aptos"/>
            </a:endParaRPr>
          </a:p>
          <a:p>
            <a:r>
              <a:rPr lang="en-US" sz="1200" dirty="0" smtClean="0">
                <a:solidFill>
                  <a:srgbClr val="E5EDF7"/>
                </a:solidFill>
                <a:latin typeface="Aptos"/>
              </a:rPr>
              <a:t>Invoke-</a:t>
            </a:r>
            <a:r>
              <a:rPr lang="en-US" sz="1200" dirty="0" err="1" smtClean="0">
                <a:solidFill>
                  <a:srgbClr val="E5EDF7"/>
                </a:solidFill>
                <a:latin typeface="Aptos"/>
              </a:rPr>
              <a:t>automation.blog</a:t>
            </a:r>
            <a:endParaRPr lang="en-US" sz="1200" dirty="0" smtClean="0">
              <a:solidFill>
                <a:srgbClr val="E5EDF7"/>
              </a:solidFill>
              <a:latin typeface="Aptos"/>
            </a:endParaRPr>
          </a:p>
          <a:p>
            <a:r>
              <a:rPr lang="en-US" sz="1200" dirty="0" err="1" smtClean="0">
                <a:solidFill>
                  <a:srgbClr val="E5EDF7"/>
                </a:solidFill>
                <a:latin typeface="Aptos"/>
              </a:rPr>
              <a:t>Jpsider</a:t>
            </a:r>
            <a:endParaRPr lang="en-US" sz="1200" dirty="0" smtClean="0">
              <a:solidFill>
                <a:srgbClr val="E5EDF7"/>
              </a:solidFill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Twitter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GitHub</a:t>
            </a:r>
          </a:p>
          <a:p>
            <a:endParaRPr lang="en-US" sz="1200" dirty="0">
              <a:solidFill>
                <a:srgbClr val="E5EDF7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151180" y="4160520"/>
            <a:ext cx="3338003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 smtClean="0">
                <a:solidFill>
                  <a:srgbClr val="E5EDF7"/>
                </a:solidFill>
                <a:latin typeface="Aptos"/>
              </a:rPr>
              <a:t>Maarten Van </a:t>
            </a:r>
            <a:r>
              <a:rPr lang="en-US" sz="2100" dirty="0" err="1" smtClean="0">
                <a:solidFill>
                  <a:srgbClr val="E5EDF7"/>
                </a:solidFill>
                <a:latin typeface="Aptos"/>
              </a:rPr>
              <a:t>Driessen</a:t>
            </a:r>
            <a:endParaRPr lang="en-US" sz="2100" dirty="0" smtClean="0">
              <a:solidFill>
                <a:srgbClr val="E5EDF7"/>
              </a:solidFill>
              <a:latin typeface="Aptos"/>
            </a:endParaRPr>
          </a:p>
          <a:p>
            <a:r>
              <a:rPr lang="en-US" sz="1200" dirty="0" smtClean="0">
                <a:solidFill>
                  <a:srgbClr val="E5EDF7"/>
                </a:solidFill>
                <a:latin typeface="Aptos"/>
              </a:rPr>
              <a:t>Freelance Infrastructure Consultant – Unit-D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rgbClr val="E5EDF7"/>
                </a:solidFill>
                <a:latin typeface="Aptos"/>
              </a:rPr>
              <a:t>BroadCom</a:t>
            </a: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 Knight</a:t>
            </a:r>
            <a:endParaRPr lang="en-US" sz="1200" dirty="0">
              <a:solidFill>
                <a:srgbClr val="E5EDF7"/>
              </a:solidFill>
              <a:latin typeface="Apto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VMUG Leader – Belgium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rgbClr val="E5EDF7"/>
                </a:solidFill>
                <a:latin typeface="Aptos"/>
              </a:rPr>
              <a:t>vExpert</a:t>
            </a:r>
            <a:r>
              <a:rPr lang="en-US" sz="1200" dirty="0" smtClean="0">
                <a:solidFill>
                  <a:srgbClr val="E5EDF7"/>
                </a:solidFill>
                <a:latin typeface="Aptos"/>
              </a:rPr>
              <a:t> Pro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smtClean="0">
                <a:solidFill>
                  <a:srgbClr val="E5EDF7"/>
                </a:solidFill>
                <a:latin typeface="Aptos"/>
              </a:rPr>
              <a:t>Speaks French!</a:t>
            </a:r>
            <a:endParaRPr lang="en-US" sz="1200" dirty="0" smtClean="0">
              <a:solidFill>
                <a:srgbClr val="E5EDF7"/>
              </a:solidFill>
              <a:latin typeface="Aptos"/>
            </a:endParaRPr>
          </a:p>
          <a:p>
            <a:endParaRPr lang="en-US" sz="1200" dirty="0">
              <a:solidFill>
                <a:srgbClr val="E5EDF7"/>
              </a:solidFill>
              <a:latin typeface="Aptos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2829" y="4102097"/>
            <a:ext cx="2389060" cy="224268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Translate the work you already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The goal is not to start over—it’s to extend proven operational thinking into cloud-native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50292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2075688"/>
            <a:ext cx="3026663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VIADMIN EXPERIENCE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965960"/>
            <a:ext cx="3520440" cy="50292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70248" y="2075688"/>
            <a:ext cx="33009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CLOUD EQUIVALENT TO EXPLORE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60" y="1965960"/>
            <a:ext cx="3566160" cy="50292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19288" y="2075688"/>
            <a:ext cx="334670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8FAFD"/>
                </a:solidFill>
                <a:latin typeface="Aptos"/>
              </a:rPr>
              <a:t>NEW QUESTIONS TO 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06040"/>
            <a:ext cx="324612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5528" y="2688336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VM provisioning &amp; templates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606040"/>
            <a:ext cx="352044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688336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Compute instances, images, IaC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09560" y="2606040"/>
            <a:ext cx="356616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9288" y="2688336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is desired state defined and reviewed?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27832"/>
            <a:ext cx="3246120" cy="539496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" y="3310128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Clusters, HA &amp;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3227832"/>
            <a:ext cx="3520440" cy="539496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70248" y="3310128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Regions/zones, autoscaling, quotas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227832"/>
            <a:ext cx="3566160" cy="539496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19288" y="3310128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are the failure domains and limits?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849624"/>
            <a:ext cx="324612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" y="3931920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Networks &amp; port groups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3849624"/>
            <a:ext cx="352044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70248" y="3931920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VPC/VNet, subnets, routes, security 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09560" y="3849624"/>
            <a:ext cx="356616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9288" y="3931920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Who owns connectivity and policy?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471416"/>
            <a:ext cx="3246120" cy="539496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8" y="4553712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Datastores &amp; storage tiers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4471416"/>
            <a:ext cx="3520440" cy="539496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70248" y="4553712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Object/block/file storage, lifecycle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471416"/>
            <a:ext cx="3566160" cy="539496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19288" y="4553712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What drives durability, performance, and cost?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093208"/>
            <a:ext cx="324612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" y="5175504"/>
            <a:ext cx="304495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5EDF7"/>
                </a:solidFill>
                <a:latin typeface="Aptos"/>
              </a:rPr>
              <a:t>Monitoring &amp; troubleshooting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5093208"/>
            <a:ext cx="352044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70248" y="5175504"/>
            <a:ext cx="3319272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5EDF7"/>
                </a:solidFill>
                <a:latin typeface="Aptos"/>
              </a:rPr>
              <a:t>Cloud-native telemetry, logs, traces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60" y="5093208"/>
            <a:ext cx="3566160" cy="539496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019288" y="5175504"/>
            <a:ext cx="3364991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How do we connect signals to service health?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758952"/>
            <a:ext cx="109728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8FAFD"/>
                </a:solidFill>
                <a:latin typeface="Aptos"/>
              </a:rPr>
              <a:t>Cloud administration adds new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789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AEBED3"/>
                </a:solidFill>
                <a:latin typeface="Aptos"/>
              </a:rPr>
              <a:t>Use this as a prompt list, not a checklist everyone must master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520440" cy="128016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2167128"/>
            <a:ext cx="64008" cy="106070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Identity &amp;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Roles, policies, workload identity, least 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057400"/>
            <a:ext cx="3520440" cy="128016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2167128"/>
            <a:ext cx="64008" cy="106070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Infrastructure as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Reusable templates, version control, plan/apply 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057400"/>
            <a:ext cx="3520440" cy="128016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75320" y="2167128"/>
            <a:ext cx="64008" cy="106070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6488" y="2221992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Networking &amp;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6488" y="2715768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Cloud boundaries, private connectivity, zero-trust patterns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30168"/>
            <a:ext cx="3520440" cy="128016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85800" y="3739896"/>
            <a:ext cx="64008" cy="106070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Observability &amp;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Service-level objectives, telemetry, incident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630168"/>
            <a:ext cx="3520440" cy="128016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80560" y="3739896"/>
            <a:ext cx="64008" cy="106070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172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Cost &amp; governance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8172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Budgets, tagging, chargeback/showback, policy guardrails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75320" y="3630168"/>
            <a:ext cx="3520440" cy="1280160"/>
          </a:xfrm>
          <a:prstGeom prst="round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75320" y="3739896"/>
            <a:ext cx="64008" cy="106070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6488" y="3794759"/>
            <a:ext cx="317296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8FAFD"/>
                </a:solidFill>
                <a:latin typeface="Aptos"/>
              </a:rPr>
              <a:t>Containers &amp; platform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6488" y="4288536"/>
            <a:ext cx="313639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5EDF7"/>
                </a:solidFill>
                <a:latin typeface="Aptos"/>
              </a:rPr>
              <a:t>Know when VMs are right—and when managed services fit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8640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 smtClean="0">
                <a:solidFill>
                  <a:srgbClr val="F8FAFD"/>
                </a:solidFill>
                <a:latin typeface="Aptos"/>
              </a:rPr>
              <a:t>Which </a:t>
            </a:r>
            <a:r>
              <a:rPr sz="1600" b="1" i="0" dirty="0">
                <a:solidFill>
                  <a:srgbClr val="F8FAFD"/>
                </a:solidFill>
                <a:latin typeface="Aptos"/>
              </a:rPr>
              <a:t>of these is already part of your job? Which one causes the most uncertainty?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823960" y="0"/>
            <a:ext cx="3364992" cy="6858000"/>
          </a:xfrm>
          <a:prstGeom prst="roundRect">
            <a:avLst/>
          </a:prstGeom>
          <a:solidFill>
            <a:srgbClr val="1B2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464040" y="731520"/>
            <a:ext cx="1828800" cy="1737360"/>
          </a:xfrm>
          <a:prstGeom prst="roundRect">
            <a:avLst/>
          </a:prstGeom>
          <a:solidFill>
            <a:srgbClr val="3670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195560" y="2743200"/>
            <a:ext cx="1143000" cy="1143000"/>
          </a:xfrm>
          <a:prstGeom prst="round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098280" y="4389120"/>
            <a:ext cx="2148840" cy="1097280"/>
          </a:xfrm>
          <a:prstGeom prst="roundRect">
            <a:avLst/>
          </a:prstGeom>
          <a:solidFill>
            <a:srgbClr val="2C4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7680960" cy="155448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600" b="1">
                <a:solidFill>
                  <a:srgbClr val="FAFCFF"/>
                </a:solidFill>
                <a:latin typeface="Aptos"/>
              </a:rPr>
              <a:t>AI BUZZWORDS,
DECODED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880360"/>
            <a:ext cx="7132320" cy="381643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 dirty="0">
                <a:solidFill>
                  <a:srgbClr val="AABBCF"/>
                </a:solidFill>
                <a:latin typeface="Aptos"/>
              </a:rPr>
              <a:t>What the terms mean, what the technology </a:t>
            </a:r>
            <a:r>
              <a:rPr sz="2000" b="0" dirty="0" smtClean="0">
                <a:solidFill>
                  <a:srgbClr val="AABBCF"/>
                </a:solidFill>
                <a:latin typeface="Aptos"/>
              </a:rPr>
              <a:t>does</a:t>
            </a:r>
            <a:endParaRPr sz="2000" b="0" dirty="0">
              <a:solidFill>
                <a:srgbClr val="AABBCF"/>
              </a:solidFill>
              <a:latin typeface="Apto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08" y="3746547"/>
            <a:ext cx="2438982" cy="238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76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problem with AI language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same label can describe very different capabilities.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MARKETING 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Words like “intelligent,” “autonomous,” and “agentic” sound precise—but often are not.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Vendors may use the same term for different architectures and levels of maturity.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 demo proves a workflow can work once; it does not prove production reliability.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THE PRACTICAL VERSION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Ask what the system actually does, using which data and models.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Separate a capability from a product feature and from a business outcome.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Demand measurable results, clear limits, and a safe failure mode.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Translate every buzzword into a behavior you can test.</a:t>
            </a:r>
          </a:p>
        </p:txBody>
      </p:sp>
    </p:spTree>
    <p:extLst>
      <p:ext uri="{BB962C8B-B14F-4D97-AF65-F5344CB8AC3E}">
        <p14:creationId xmlns:p14="http://schemas.microsoft.com/office/powerpoint/2010/main" val="94481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quick map of 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related, but they are not interchangeable.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 field: systems performing tasks associated with human intelligence.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600200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74536" y="1746504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Machine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103120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Models learn patterns from examples or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Deep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Machine learning using multi-layer neural networks.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3368" y="3081528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74536" y="3227832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Generative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3584448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Creates content such as text, images, audio, or code.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3670BE"/>
                </a:solidFill>
                <a:latin typeface="Aptos"/>
              </a:rPr>
              <a:t>Foundation model /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Broadly trained model; LLMs focus on language.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3368" y="4562856"/>
            <a:ext cx="5376672" cy="1234440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74536" y="4709160"/>
            <a:ext cx="489204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600" b="1">
                <a:solidFill>
                  <a:srgbClr val="22A99B"/>
                </a:solidFill>
                <a:latin typeface="Aptos"/>
              </a:rPr>
              <a:t>AI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4536" y="5065776"/>
            <a:ext cx="489204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The product workflow around a model: data, tools, controls, and UI.</a:t>
            </a:r>
          </a:p>
        </p:txBody>
      </p:sp>
    </p:spTree>
    <p:extLst>
      <p:ext uri="{BB962C8B-B14F-4D97-AF65-F5344CB8AC3E}">
        <p14:creationId xmlns:p14="http://schemas.microsoft.com/office/powerpoint/2010/main" val="4204477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Machine learning terms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Most AI systems depend on patterns learned from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YOU'LL HEAR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Training: adjusting a model using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Inference: using a trained model to produce an output.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Supervised learning: learning from labeled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Unsupervised learning: finding structure without target labels.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Reinforcement learning: learning through actions, feedback, or rewards.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What data was used—and is it representative of our environment?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What does good performance mean, and how is it measured?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Does the system need retraining as conditions change?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Can results be explained, audited, or reproduced?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A model learns statistical patterns; it does not automatically understand your business.</a:t>
            </a:r>
          </a:p>
        </p:txBody>
      </p:sp>
    </p:spTree>
    <p:extLst>
      <p:ext uri="{BB962C8B-B14F-4D97-AF65-F5344CB8AC3E}">
        <p14:creationId xmlns:p14="http://schemas.microsoft.com/office/powerpoint/2010/main" val="318803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Generative AI, LLMs, and tokens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Generative systems produce outputs based on learned patterns and supplied context.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Generative AI: creates content rather than only classifying or scoring.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LLM: large language model, designed to process and generate language.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Token: a chunk of text processed by a model; not always a whole word.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Context window: the input and conversation a model can consider at once.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Multimodal: handles more than one data type, such as text, images, or audio.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MEANS IN PRACTICE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Longer context can help, but does not guarantee perfect recall.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 model may summarize logs or draft scripts, but can omit details.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Multimodal does not mean it can interpret every file accurately.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Output quality depends on prompt, context, model, and task.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Fluent output is not proof of factual accuracy.</a:t>
            </a:r>
          </a:p>
        </p:txBody>
      </p:sp>
    </p:spTree>
    <p:extLst>
      <p:ext uri="{BB962C8B-B14F-4D97-AF65-F5344CB8AC3E}">
        <p14:creationId xmlns:p14="http://schemas.microsoft.com/office/powerpoint/2010/main" val="239785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Hallucinations, grounding, and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confident answer can still be wrong. Grounding connects responses to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Hallucination: plausible-sounding output that is false or unsupported.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Grounding: tying a response to trusted data or evidence.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RAG: retrieval-augmented generation; retrieve sources, then generate an answer.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Embedding: numerical representation used to compare semantic similarity.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Vector database: stores and searches vectors, often for similarity retrieval.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IT DOES—AND DOESN'T—SOLVE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RAG can improve access to current or private documents.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Retrieval can return irrelevant, stale, or incomplete material.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Citations help only if they point to evidence that supports the claim.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RAG does not retrain the model or guarantee truth.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Check the source, not just the answer.</a:t>
            </a:r>
          </a:p>
        </p:txBody>
      </p:sp>
    </p:spTree>
    <p:extLst>
      <p:ext uri="{BB962C8B-B14F-4D97-AF65-F5344CB8AC3E}">
        <p14:creationId xmlns:p14="http://schemas.microsoft.com/office/powerpoint/2010/main" val="4186451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Prompting, fine-tuning, and model choice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Different techniques change different parts of the 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Prompt engineering: structuring instructions and context.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System prompt: high-level behavior instructions for an application.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Few-shot prompting: showing examples in the prompt.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Fine-tuning: further training a model on task-specific examples.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Distillation: transferring behavior from a larger model to a smaller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WHEN EACH MAY HELP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Prompting is often the fastest way to improve a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Few-shot examples can clarify desired format or style.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Fine-tuning may help specialized behavior—not live facts.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Smaller models may reduce cost and latency for bounded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Test alternatives against representative tasks, not cherry-picked demos.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357" y="5924780"/>
            <a:ext cx="10703363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Do not fine-tune to solve a problem that better data or instructions would fix.</a:t>
            </a:r>
          </a:p>
        </p:txBody>
      </p:sp>
    </p:spTree>
    <p:extLst>
      <p:ext uri="{BB962C8B-B14F-4D97-AF65-F5344CB8AC3E}">
        <p14:creationId xmlns:p14="http://schemas.microsoft.com/office/powerpoint/2010/main" val="1584782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agents and agentic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“Agent” is one of the most overused terms in AI marketing.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AI agent: a system that uses a model to pursue a goal, often with tools.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Agentic workflow: multi-step process where the system selects actions dynamically.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Tool/function calling: model requests an application to run a defined operation.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Planning: breaking a goal into steps or selecting the next action.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Multi-agent: multiple agents or roles coordinate on a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REALITY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An agent is not automatically independent, reliable, or safe.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Tools determine what it can actually read, change, or execute.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More steps create more opportunities for errors and drift.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Use bounded permissions, approval gates, timeouts, and audit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Start with a workflow that has a clear success test and rollback.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An agent is an automation design pattern—not a digital employee.</a:t>
            </a:r>
          </a:p>
        </p:txBody>
      </p:sp>
    </p:spTree>
    <p:extLst>
      <p:ext uri="{BB962C8B-B14F-4D97-AF65-F5344CB8AC3E}">
        <p14:creationId xmlns:p14="http://schemas.microsoft.com/office/powerpoint/2010/main" val="6066623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Copilots, assistants, chatbots, and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labels describe user experience more than a specific architecture.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COMMON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Chatbot: conversational interface; may be scripted or model-powered.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AI assistant: helps answer, draft, summarize, or perform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Copilot: assists a person inside a workflow, often with contextual access.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Autopilot: implies actions can happen with less human intervention.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Human-in-the-loop: a person reviews or approves part of the process.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QUESTIONS THAT MATTER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Does it only suggest, or can it execute changes?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What data can it see, and under whose identity?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Where is human approval required?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Can users inspect what it did and reverse the action?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Is it useful inside the tools the team already uses?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Ignore the label; map the permissions and actual workflow.</a:t>
            </a:r>
          </a:p>
        </p:txBody>
      </p:sp>
    </p:spTree>
    <p:extLst>
      <p:ext uri="{BB962C8B-B14F-4D97-AF65-F5344CB8AC3E}">
        <p14:creationId xmlns:p14="http://schemas.microsoft.com/office/powerpoint/2010/main" val="20388734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AIOps, predictive operations, and “self-healing”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can help detect patterns—but autonomous remediation needs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AIOps: applying analytics/ML/AI to IT operations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Anomaly detection: identifying behavior that differs from a baseline.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Predictive analytics: estimating future events or conditions from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Root-cause analysis: narrowing possible causes of an incident.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Self-healing: detecting an issue and triggering corrective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WHAT TO 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Does it reduce alert noise or just create another dashboard?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Are predictions calibrated and early enough to act on?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Can it explain evidence behind a suggested cause?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Are remediations tested, scoped, and reversible?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Measure false positives, missed incidents, and time-to-resolution.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“Self-healing” should mean a defined recovery path, not unchecked change.</a:t>
            </a:r>
          </a:p>
        </p:txBody>
      </p:sp>
    </p:spTree>
    <p:extLst>
      <p:ext uri="{BB962C8B-B14F-4D97-AF65-F5344CB8AC3E}">
        <p14:creationId xmlns:p14="http://schemas.microsoft.com/office/powerpoint/2010/main" val="2223113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Data, vector search, and synthetic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 quality and permissions of data often matter as much as the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Data pipeline: moves and transforms data for downstream use.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Data lake / warehouse: stores data for different processing and analytics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Synthetic data: artificially generated data used for testing or training.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Knowledge graph: represents entities and relationships explicitly.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Semantic search: searches by meaning or similarity, not only exact keywords.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WATCH OUT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Stale, duplicated, or poorly labeled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Sensitive data copied into embeddings, logs, or prompts.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Synthetic data that repeats bias or misses real-world edge cases.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Permissions that are lost when documents are indexed.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 polished search experience over incomplete source material.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If the data is wrong, AI can make the wrong answer easier to find.</a:t>
            </a:r>
          </a:p>
        </p:txBody>
      </p:sp>
    </p:spTree>
    <p:extLst>
      <p:ext uri="{BB962C8B-B14F-4D97-AF65-F5344CB8AC3E}">
        <p14:creationId xmlns:p14="http://schemas.microsoft.com/office/powerpoint/2010/main" val="959748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Responsible AI, guardrails, and red teaming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Responsible use is an engineering discipline, not a checkbox.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Guardrails: controls that constrain inputs, outputs, or actions.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Red teaming: deliberately probing a system for weaknesses.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Prompt injection: malicious instructions embedded in input or retrieved content.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PII: personally identifiable information.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AI governance: policies, accountability, risk management, and oversight.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CONTROLS TO EXPECT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Least-privilege access and separation of duties.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Data classification, retention rules, and vendor-use clarity.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Evaluation for bias, unsafe output, and prompt injection.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Logging that supports audit without retaining unnecessary secrets.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 way to disable the feature and fall back to a known process.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Treat model output and retrieved content as untrusted input.</a:t>
            </a:r>
          </a:p>
        </p:txBody>
      </p:sp>
    </p:spTree>
    <p:extLst>
      <p:ext uri="{BB962C8B-B14F-4D97-AF65-F5344CB8AC3E}">
        <p14:creationId xmlns:p14="http://schemas.microsoft.com/office/powerpoint/2010/main" val="3842615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AI security and enterprise deployment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AI adds new attack surfaces; it does not replace security fundamentals.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TERMS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Model security: protecting models, weights, APIs, and serving infrastructure.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Data leakage: sensitive information exposed through prompts, outputs, or logs.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Jailbreak: attempt to bypass intended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On-prem / private AI: deployment or controls designed for a chosen boundary.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Sovereign AI: broad term for control over data, infrastructure, and jurisdiction.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DEPLOYMENT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Where do prompts, files, telemetry, and outputs travel?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Are inputs used to train or improve a provider's models?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What identity and network controls protect model endpoints?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How are model versions, dependencies, and vulnerabilities managed?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What does “private” mean contractually and technically?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Ask for a data-flow diagram and security boundaries—not a privacy slogan.</a:t>
            </a:r>
          </a:p>
        </p:txBody>
      </p:sp>
    </p:spTree>
    <p:extLst>
      <p:ext uri="{BB962C8B-B14F-4D97-AF65-F5344CB8AC3E}">
        <p14:creationId xmlns:p14="http://schemas.microsoft.com/office/powerpoint/2010/main" val="659332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Latency, throughput, inference cost, and efficiency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A model that works in a demo may not fit production budgets or service levels.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Latency: time between request and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Throughput: amount of work completed per unit of time.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Inference cost: cost of running the model for requests.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Quantization: reducing numerical precision to lower memory/compute needs.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Edge AI: running AI on or near the device where data is generated.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MEASURE IN YOUR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Typical and worst-case response times.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Cost per useful task—not only cost per token.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Quality changes after quantization or model compression.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Peak load, concurrency, and capacity headroom.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Operational costs: GPUs, power, cooling, storage, and staff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Benchmark end-to-end outcomes under realistic load.</a:t>
            </a:r>
          </a:p>
        </p:txBody>
      </p:sp>
    </p:spTree>
    <p:extLst>
      <p:ext uri="{BB962C8B-B14F-4D97-AF65-F5344CB8AC3E}">
        <p14:creationId xmlns:p14="http://schemas.microsoft.com/office/powerpoint/2010/main" val="3932948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94360" y="566928"/>
            <a:ext cx="11064240" cy="53035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MCP: a standard way for AI to connect to tools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24712"/>
            <a:ext cx="10972800" cy="38404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0">
                <a:solidFill>
                  <a:srgbClr val="BECADA"/>
                </a:solidFill>
                <a:latin typeface="Aptos"/>
              </a:defRPr>
            </a:pPr>
            <a:r>
              <a:rPr>
                <a:latin typeface="Aptos"/>
              </a:rPr>
              <a:t>Model Context Protocol (MCP) defines a common way for AI applications to connect with external capabilities.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3429000" cy="1298448"/>
          </a:xfrm>
          <a:prstGeom prst="roundRect">
            <a:avLst/>
          </a:prstGeom>
          <a:solidFill>
            <a:srgbClr val="192B44"/>
          </a:solidFill>
          <a:ln>
            <a:solidFill>
              <a:srgbClr val="19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929384"/>
            <a:ext cx="3090672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Aptos"/>
              </a:defRPr>
            </a:pPr>
            <a:r>
              <a:rPr>
                <a:latin typeface="Aptos"/>
              </a:rPr>
              <a:t>AI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58568"/>
            <a:ext cx="3090672" cy="685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The host experience</a:t>
            </a:r>
            <a:r>
              <a:t/>
            </a:r>
            <a:br/>
            <a:r>
              <a:rPr>
                <a:latin typeface="Aptos"/>
              </a:rPr>
              <a:t>An assistant, IDE, or AI-enabled admin tool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783080"/>
            <a:ext cx="3429000" cy="1298448"/>
          </a:xfrm>
          <a:prstGeom prst="roundRect">
            <a:avLst/>
          </a:prstGeom>
          <a:solidFill>
            <a:srgbClr val="192B44"/>
          </a:solidFill>
          <a:ln>
            <a:solidFill>
              <a:srgbClr val="19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35424" y="1929384"/>
            <a:ext cx="3090672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ptos"/>
              </a:defRPr>
            </a:pPr>
            <a:r>
              <a:rPr>
                <a:latin typeface="Aptos"/>
              </a:rPr>
              <a:t>MCP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5424" y="2258568"/>
            <a:ext cx="3090672" cy="685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Manages the connection</a:t>
            </a:r>
            <a:r>
              <a:t/>
            </a:r>
            <a:br/>
            <a:r>
              <a:rPr>
                <a:latin typeface="Aptos"/>
              </a:rPr>
              <a:t>Requests available tools, resources, and prompts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783080"/>
            <a:ext cx="3429000" cy="1298448"/>
          </a:xfrm>
          <a:prstGeom prst="roundRect">
            <a:avLst/>
          </a:prstGeom>
          <a:solidFill>
            <a:srgbClr val="192B44"/>
          </a:solidFill>
          <a:ln>
            <a:solidFill>
              <a:srgbClr val="192B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84464" y="1929384"/>
            <a:ext cx="3090672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rPr>
                <a:latin typeface="Aptos"/>
              </a:rPr>
              <a:t>MCP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2258568"/>
            <a:ext cx="3090672" cy="6858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Exposes capabilities</a:t>
            </a:r>
            <a:r>
              <a:t/>
            </a:r>
            <a:br/>
            <a:r>
              <a:rPr>
                <a:latin typeface="Aptos"/>
              </a:rPr>
              <a:t>Connects to approved APIs, files, monitoring, or automation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96512" y="2267712"/>
            <a:ext cx="228600" cy="256032"/>
          </a:xfrm>
          <a:prstGeom prst="rightArrow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7845552" y="2267712"/>
            <a:ext cx="228600" cy="256032"/>
          </a:xfrm>
          <a:prstGeom prst="rightArrow">
            <a:avLst/>
          </a:prstGeom>
          <a:solidFill>
            <a:srgbClr val="2DD4BF"/>
          </a:solidFill>
          <a:ln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1792" y="3346704"/>
            <a:ext cx="5413248" cy="2331720"/>
          </a:xfrm>
          <a:prstGeom prst="roundRect">
            <a:avLst/>
          </a:prstGeom>
          <a:solidFill>
            <a:srgbClr val="1E344E"/>
          </a:solidFill>
          <a:ln>
            <a:solidFill>
              <a:srgbClr val="1E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493776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2DD4BF"/>
                </a:solidFill>
                <a:latin typeface="Aptos"/>
              </a:defRPr>
            </a:pPr>
            <a:r>
              <a:rPr>
                <a:latin typeface="Aptos"/>
              </a:rPr>
              <a:t>WHAT MCP CAN EXPOSE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931920"/>
            <a:ext cx="1024128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931920"/>
            <a:ext cx="3858768" cy="42062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BECADA"/>
                </a:solidFill>
                <a:latin typeface="Aptos"/>
              </a:defRPr>
            </a:pPr>
            <a:r>
              <a:rPr>
                <a:latin typeface="Aptos"/>
              </a:rPr>
              <a:t>Actions a model can request, such as querying a system or starting a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462272"/>
            <a:ext cx="1024128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Resources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62272"/>
            <a:ext cx="3858768" cy="42062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BECADA"/>
                </a:solidFill>
                <a:latin typeface="Aptos"/>
              </a:defRPr>
            </a:pPr>
            <a:r>
              <a:rPr>
                <a:latin typeface="Aptos"/>
              </a:rPr>
              <a:t>Context an application can retrieve, such as documentation or inventory 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992624"/>
            <a:ext cx="1024128" cy="2468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Prompts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992624"/>
            <a:ext cx="3858768" cy="42062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BECADA"/>
                </a:solidFill>
                <a:latin typeface="Aptos"/>
              </a:defRPr>
            </a:pPr>
            <a:r>
              <a:rPr>
                <a:latin typeface="Aptos"/>
              </a:rPr>
              <a:t>Reusable prompt templates or guided task patterns.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3346704"/>
            <a:ext cx="5312664" cy="2331720"/>
          </a:xfrm>
          <a:prstGeom prst="roundRect">
            <a:avLst/>
          </a:prstGeom>
          <a:solidFill>
            <a:srgbClr val="1E344E"/>
          </a:solidFill>
          <a:ln>
            <a:solidFill>
              <a:srgbClr val="1E34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55664" y="3538728"/>
            <a:ext cx="4846320" cy="292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200" b="1">
                <a:solidFill>
                  <a:srgbClr val="60A5FA"/>
                </a:solidFill>
                <a:latin typeface="Aptos"/>
              </a:defRPr>
            </a:pPr>
            <a:r>
              <a:rPr>
                <a:latin typeface="Aptos"/>
              </a:rPr>
              <a:t>WHY ADMINS SHOULD CARE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3950208"/>
            <a:ext cx="292608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rPr>
                <a:latin typeface="Aptos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3950208"/>
            <a:ext cx="4443984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A consistent integration pattern across compatible AI clients and systems.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480560"/>
            <a:ext cx="292608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rPr>
                <a:latin typeface="Apto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4480560"/>
            <a:ext cx="4443984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Can connect AI workflows to operational data and approved actions.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5010912"/>
            <a:ext cx="292608" cy="2743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5BE5A"/>
                </a:solidFill>
                <a:latin typeface="Aptos"/>
              </a:defRPr>
            </a:pPr>
            <a:r>
              <a:rPr>
                <a:latin typeface="Apto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5010912"/>
            <a:ext cx="4443984" cy="438912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050" b="0">
                <a:solidFill>
                  <a:srgbClr val="F4F7FB"/>
                </a:solidFill>
                <a:latin typeface="Aptos"/>
              </a:defRPr>
            </a:pPr>
            <a:r>
              <a:rPr>
                <a:latin typeface="Aptos"/>
              </a:rPr>
              <a:t>Does not make a model more accurate or make an integration inherently safe.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Open source, open weights, and foundation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These terms are often used loosely and are not equivalent.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THE DISTINCTIONS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Foundation model: broadly trained model that can support many tasks.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Open weights: model parameters are available under a license.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Open source AI: access to code, data, and reproducibility varies by definition.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Proprietary model: controlled by a vendor, often accessed through a service.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Small language model (SLM): smaller model optimized for narrower tasks or constrained environments.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DECISION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License rights and usage restrictions.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Ability to host, tune, inspect, and update the model.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Support, patch cadence, and security response.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Hardware requirements and expected performance.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Total cost and exit strategy if the provider changes terms.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“Open” is not a complete answer—read the license and deployment terms.</a:t>
            </a:r>
          </a:p>
        </p:txBody>
      </p:sp>
    </p:spTree>
    <p:extLst>
      <p:ext uri="{BB962C8B-B14F-4D97-AF65-F5344CB8AC3E}">
        <p14:creationId xmlns:p14="http://schemas.microsoft.com/office/powerpoint/2010/main" val="24531296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Translate the pitch into testable claims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Use this table in vendor briefings, demos, and architecture reviews.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82495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“Autonomous”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66420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actions can it take without approval?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66420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Permission matrix + audit trail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95144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404872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“Real-time intelligence”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386584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data freshness and end-to-end latency?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2386584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Timestamped test under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127248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“Predictive”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108960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outcome is predicted, how early, and with what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3108960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Backtest + false-positive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739896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849624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“Self-healing”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31335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failures are detected and what recovery is safe?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831335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Failure injection + rollback test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462272"/>
            <a:ext cx="10927080" cy="621792"/>
          </a:xfrm>
          <a:prstGeom prst="rect">
            <a:avLst/>
          </a:prstGeom>
          <a:solidFill>
            <a:srgbClr val="263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572000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“Enterprise-grade”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553712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Which scale, security, availability, and support commitments?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553712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SLOs, controls, contract terms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84648"/>
            <a:ext cx="10927080" cy="621792"/>
          </a:xfrm>
          <a:prstGeom prst="rect">
            <a:avLst/>
          </a:prstGeom>
          <a:solidFill>
            <a:srgbClr val="18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294376"/>
            <a:ext cx="1874519" cy="365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1">
                <a:solidFill>
                  <a:srgbClr val="F5B742"/>
                </a:solidFill>
                <a:latin typeface="Aptos"/>
              </a:rPr>
              <a:t>“Private / secure AI”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276088"/>
            <a:ext cx="480060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Where does data flow, persist, and get processed?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5276088"/>
            <a:ext cx="3703320" cy="402336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Data-flow diagram + retention terms</a:t>
            </a:r>
          </a:p>
        </p:txBody>
      </p:sp>
    </p:spTree>
    <p:extLst>
      <p:ext uri="{BB962C8B-B14F-4D97-AF65-F5344CB8AC3E}">
        <p14:creationId xmlns:p14="http://schemas.microsoft.com/office/powerpoint/2010/main" val="3100861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A sensible path from demo to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Treat AI as a system to engineer, test, operate, and improve.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3670BE"/>
                </a:solidFill>
                <a:latin typeface="Aptos"/>
              </a:rPr>
              <a:t>START SMALL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Choose a narrow, repetitive, measurable workflow.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Establish a non-AI baseline for quality, time,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Use representative, permissioned data.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Run in advisory or read-only mode first.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Define unacceptable outcomes before the pilot.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321808" cy="4096512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55664" y="1965960"/>
            <a:ext cx="4800600" cy="34747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700" b="1">
                <a:solidFill>
                  <a:srgbClr val="22A99B"/>
                </a:solidFill>
                <a:latin typeface="Aptos"/>
              </a:rPr>
              <a:t>SCALE WITH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450592"/>
            <a:ext cx="4828032" cy="3063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Evaluate accuracy and failure cases continuously.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Add approval gates before high-impact changes.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Monitor quality, drift, latency, usage, and cost.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Version prompts, models, data sources, and workflows.</a:t>
            </a:r>
          </a:p>
          <a:p>
            <a:pPr>
              <a:spcAft>
                <a:spcPts val="800"/>
              </a:spcAft>
              <a:defRPr sz="1400">
                <a:solidFill>
                  <a:srgbClr val="FAFCFF"/>
                </a:solidFill>
                <a:latin typeface="Aptos"/>
              </a:defRPr>
            </a:pPr>
            <a:r>
              <a:rPr>
                <a:latin typeface="Aptos"/>
              </a:rPr>
              <a:t>•  Document ownership, rollback, incident response, and exit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907024"/>
            <a:ext cx="10634472" cy="2585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 dirty="0">
                <a:solidFill>
                  <a:srgbClr val="FAFCFF"/>
                </a:solidFill>
                <a:latin typeface="Aptos"/>
              </a:rPr>
              <a:t>A successful pilot is evidence—not automatic permission to scale.</a:t>
            </a:r>
          </a:p>
        </p:txBody>
      </p:sp>
    </p:spTree>
    <p:extLst>
      <p:ext uri="{BB962C8B-B14F-4D97-AF65-F5344CB8AC3E}">
        <p14:creationId xmlns:p14="http://schemas.microsoft.com/office/powerpoint/2010/main" val="474105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53035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700" b="1">
                <a:solidFill>
                  <a:srgbClr val="FAFCFF"/>
                </a:solidFill>
                <a:latin typeface="Aptos"/>
              </a:rPr>
              <a:t>The AI evaluation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300" b="0">
                <a:solidFill>
                  <a:srgbClr val="AABBCF"/>
                </a:solidFill>
                <a:latin typeface="Aptos"/>
              </a:rPr>
              <a:t>Before buying or building, get clear answers to these six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1.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measurable problem does this solve?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175564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2.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was performance tested on our tasks and data?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696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3.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can it read, write, execute, and share?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01752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0528" y="317296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4. 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52043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How does it fail, recover, and communicate uncertainty?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696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5.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What is the full cost at expected scale?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34840"/>
            <a:ext cx="5257800" cy="1115568"/>
          </a:xfrm>
          <a:prstGeom prst="roundRect">
            <a:avLst/>
          </a:prstGeom>
          <a:solidFill>
            <a:srgbClr val="263B5B"/>
          </a:solidFill>
          <a:ln>
            <a:solidFill>
              <a:srgbClr val="394C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0528" y="4590288"/>
            <a:ext cx="4754880" cy="25603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500" b="1">
                <a:solidFill>
                  <a:srgbClr val="22A99B"/>
                </a:solidFill>
                <a:latin typeface="Aptos"/>
              </a:rPr>
              <a:t>6.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937759"/>
            <a:ext cx="475488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0">
                <a:solidFill>
                  <a:srgbClr val="FAFCFF"/>
                </a:solidFill>
                <a:latin typeface="Aptos"/>
              </a:rPr>
              <a:t>Who monitors it, approves changes, and is accountable?</a:t>
            </a:r>
          </a:p>
        </p:txBody>
      </p:sp>
    </p:spTree>
    <p:extLst>
      <p:ext uri="{BB962C8B-B14F-4D97-AF65-F5344CB8AC3E}">
        <p14:creationId xmlns:p14="http://schemas.microsoft.com/office/powerpoint/2010/main" val="1679956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789920" cy="489365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lang="en-US" sz="2700" b="1" dirty="0">
                <a:solidFill>
                  <a:srgbClr val="FAFCFF"/>
                </a:solidFill>
                <a:latin typeface="Aptos"/>
              </a:rPr>
              <a:t>T</a:t>
            </a:r>
            <a:r>
              <a:rPr sz="2700" b="1" dirty="0" smtClean="0">
                <a:solidFill>
                  <a:srgbClr val="FAFCFF"/>
                </a:solidFill>
                <a:latin typeface="Aptos"/>
              </a:rPr>
              <a:t>erms </a:t>
            </a:r>
            <a:r>
              <a:rPr sz="2700" b="1" dirty="0">
                <a:solidFill>
                  <a:srgbClr val="FAFCFF"/>
                </a:solidFill>
                <a:latin typeface="Aptos"/>
              </a:rPr>
              <a:t>worth knowing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978408"/>
            <a:ext cx="777240" cy="54864"/>
          </a:xfrm>
          <a:prstGeom prst="rect">
            <a:avLst/>
          </a:prstGeom>
          <a:solidFill>
            <a:srgbClr val="22A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Interface that lets software request a service or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4475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7848" y="144475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Repeatable test used to compare performance or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5856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Systematic skew in data, predictions, or outcomes.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Explainability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7848" y="210312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Methods for inspecting why a model produced an output.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Evaluation / evals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856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Tests that measure model or workflow behavior.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61488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Fine-tuning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761488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Additional training to adapt model behavior.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Inference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Running a trained model to produce a result.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419856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Model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3419856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Performance changes as data or conditions change.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MoE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856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Mixture of experts: routes inputs to model sub-networks.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78224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NLP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4078224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Natural language processing: techniques for human language.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Parameters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Learned numerical values inside a model.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36592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RLHF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4736592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Reinforcement learning from human feedback.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5856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Sampling setting that can influence output variability.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5394960"/>
            <a:ext cx="1572768" cy="237744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100" b="1">
                <a:solidFill>
                  <a:srgbClr val="22A99B"/>
                </a:solidFill>
                <a:latin typeface="Aptos"/>
              </a:rPr>
              <a:t>Zero-shot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7848" y="5394960"/>
            <a:ext cx="3886200" cy="438912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900" b="0">
                <a:solidFill>
                  <a:srgbClr val="FAFCFF"/>
                </a:solidFill>
                <a:latin typeface="Aptos"/>
              </a:rPr>
              <a:t>Asking a model to perform a task without examples in the prompt.</a:t>
            </a:r>
          </a:p>
        </p:txBody>
      </p:sp>
    </p:spTree>
    <p:extLst>
      <p:ext uri="{BB962C8B-B14F-4D97-AF65-F5344CB8AC3E}">
        <p14:creationId xmlns:p14="http://schemas.microsoft.com/office/powerpoint/2010/main" val="3147100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2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713232"/>
            <a:ext cx="3657600" cy="27432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200" b="1">
                <a:solidFill>
                  <a:srgbClr val="22A99B"/>
                </a:solidFill>
                <a:latin typeface="Aptos"/>
              </a:rPr>
              <a:t>THE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1325880"/>
            <a:ext cx="9784080" cy="150876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3400" b="1">
                <a:solidFill>
                  <a:srgbClr val="FAFCFF"/>
                </a:solidFill>
                <a:latin typeface="Aptos"/>
              </a:rPr>
              <a:t>Don’t buy the buzzword.
Validate the capability.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3337560"/>
            <a:ext cx="8961120" cy="9144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2000" b="0">
                <a:solidFill>
                  <a:srgbClr val="AABBCF"/>
                </a:solidFill>
                <a:latin typeface="Aptos"/>
              </a:rPr>
              <a:t>Ask what it does. Test it on your data. Bound its permissions.
Measure the outcome. Plan for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4983480"/>
            <a:ext cx="91440" cy="731520"/>
          </a:xfrm>
          <a:prstGeom prst="rect">
            <a:avLst/>
          </a:prstGeom>
          <a:solidFill>
            <a:srgbClr val="F5B7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5074920"/>
            <a:ext cx="4572000" cy="457200"/>
          </a:xfrm>
          <a:prstGeom prst="rect">
            <a:avLst/>
          </a:prstGeom>
          <a:noFill/>
        </p:spPr>
        <p:txBody>
          <a:bodyPr wrap="square" lIns="54864" tIns="36576" rIns="54864" bIns="36576">
            <a:spAutoFit/>
          </a:bodyPr>
          <a:lstStyle/>
          <a:p>
            <a:pPr algn="l"/>
            <a:r>
              <a:rPr sz="1800" b="1">
                <a:solidFill>
                  <a:srgbClr val="FAFCFF"/>
                </a:solidFill>
                <a:latin typeface="Aptos"/>
              </a:rPr>
              <a:t>Questions / discussion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5344" y="639193"/>
            <a:ext cx="2418079" cy="236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411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3195</Words>
  <Application>Microsoft Office PowerPoint</Application>
  <PresentationFormat>Widescreen</PresentationFormat>
  <Paragraphs>366</Paragraphs>
  <Slides>24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VIAdmin to Cloud Admin: Cut Through the AI Hype</dc:title>
  <dc:subject>Interactive roundtable deck aligned to abstract and key takeaways</dc:subject>
  <dc:creator>OpenAI</dc:creator>
  <cp:keywords>VIAdmin, cloud administration, AI, hybrid cloud, roundtable</cp:keywords>
  <dc:description>generated using python-pptx</dc:description>
  <cp:lastModifiedBy>justin sider</cp:lastModifiedBy>
  <cp:revision>14</cp:revision>
  <dcterms:created xsi:type="dcterms:W3CDTF">2013-01-27T09:14:16Z</dcterms:created>
  <dcterms:modified xsi:type="dcterms:W3CDTF">2026-10-15T10:28:29Z</dcterms:modified>
  <cp:category/>
</cp:coreProperties>
</file>